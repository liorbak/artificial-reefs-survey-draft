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61" r:id="rId3"/>
    <p:sldId id="257" r:id="rId4"/>
    <p:sldId id="259" r:id="rId5"/>
    <p:sldId id="260" r:id="rId6"/>
    <p:sldId id="265" r:id="rId7"/>
    <p:sldId id="266" r:id="rId8"/>
    <p:sldId id="267" r:id="rId9"/>
    <p:sldId id="262" r:id="rId10"/>
    <p:sldId id="258" r:id="rId11"/>
    <p:sldId id="263" r:id="rId12"/>
    <p:sldId id="264" r:id="rId13"/>
    <p:sldId id="268" r:id="rId14"/>
    <p:sldId id="269" r:id="rId15"/>
    <p:sldId id="270" r:id="rId16"/>
    <p:sldId id="271" r:id="rId17"/>
    <p:sldId id="274" r:id="rId18"/>
    <p:sldId id="272" r:id="rId19"/>
    <p:sldId id="273" r:id="rId20"/>
    <p:sldId id="275" r:id="rId21"/>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מקטע ברירת מחדל" id="{6385324F-5506-4540-AAE8-3431D94B5749}">
          <p14:sldIdLst>
            <p14:sldId id="256"/>
            <p14:sldId id="261"/>
            <p14:sldId id="257"/>
            <p14:sldId id="259"/>
            <p14:sldId id="260"/>
            <p14:sldId id="265"/>
            <p14:sldId id="266"/>
            <p14:sldId id="267"/>
            <p14:sldId id="262"/>
            <p14:sldId id="258"/>
            <p14:sldId id="263"/>
            <p14:sldId id="264"/>
            <p14:sldId id="268"/>
          </p14:sldIdLst>
        </p14:section>
        <p14:section name="עמותות אנשים ותקציבים" id="{C2939F3D-1261-47C2-9F8B-B9AAADDD8F43}">
          <p14:sldIdLst>
            <p14:sldId id="269"/>
            <p14:sldId id="270"/>
            <p14:sldId id="271"/>
            <p14:sldId id="274"/>
          </p14:sldIdLst>
        </p14:section>
        <p14:section name="מקטע ללא כותרת" id="{E5F1CF16-AB45-4A4B-B3AA-EF00B198F05F}">
          <p14:sldIdLst>
            <p14:sldId id="272"/>
            <p14:sldId id="273"/>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p:scale>
          <a:sx n="75" d="100"/>
          <a:sy n="75" d="100"/>
        </p:scale>
        <p:origin x="974" y="3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en-US"/>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3167269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3139531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417198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של תאריך 4"/>
          <p:cNvSpPr>
            <a:spLocks noGrp="1"/>
          </p:cNvSpPr>
          <p:nvPr>
            <p:ph type="dt" sz="half" idx="10"/>
          </p:nvPr>
        </p:nvSpPr>
        <p:spPr/>
        <p:txBody>
          <a:bodyPr/>
          <a:lstStyle/>
          <a:p>
            <a:fld id="{15D06275-38C3-476A-B920-0485044D3BC7}" type="datetimeFigureOut">
              <a:rPr lang="en-US" smtClean="0"/>
              <a:t>10/23/2025</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3544413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7" name="מציין מיקום של תאריך 6"/>
          <p:cNvSpPr>
            <a:spLocks noGrp="1"/>
          </p:cNvSpPr>
          <p:nvPr>
            <p:ph type="dt" sz="half" idx="10"/>
          </p:nvPr>
        </p:nvSpPr>
        <p:spPr/>
        <p:txBody>
          <a:bodyPr/>
          <a:lstStyle/>
          <a:p>
            <a:fld id="{15D06275-38C3-476A-B920-0485044D3BC7}" type="datetimeFigureOut">
              <a:rPr lang="en-US" smtClean="0"/>
              <a:t>10/23/2025</a:t>
            </a:fld>
            <a:endParaRPr lang="en-US"/>
          </a:p>
        </p:txBody>
      </p:sp>
      <p:sp>
        <p:nvSpPr>
          <p:cNvPr id="8" name="מציין מיקום של כותרת תחתונה 7"/>
          <p:cNvSpPr>
            <a:spLocks noGrp="1"/>
          </p:cNvSpPr>
          <p:nvPr>
            <p:ph type="ftr" sz="quarter" idx="11"/>
          </p:nvPr>
        </p:nvSpPr>
        <p:spPr/>
        <p:txBody>
          <a:bodyPr/>
          <a:lstStyle/>
          <a:p>
            <a:endParaRPr lang="en-US"/>
          </a:p>
        </p:txBody>
      </p:sp>
      <p:sp>
        <p:nvSpPr>
          <p:cNvPr id="9" name="מציין מיקום של מספר שקופית 8"/>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473934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תאריך 2"/>
          <p:cNvSpPr>
            <a:spLocks noGrp="1"/>
          </p:cNvSpPr>
          <p:nvPr>
            <p:ph type="dt" sz="half" idx="10"/>
          </p:nvPr>
        </p:nvSpPr>
        <p:spPr/>
        <p:txBody>
          <a:bodyPr/>
          <a:lstStyle/>
          <a:p>
            <a:fld id="{15D06275-38C3-476A-B920-0485044D3BC7}" type="datetimeFigureOut">
              <a:rPr lang="en-US" smtClean="0"/>
              <a:t>10/23/2025</a:t>
            </a:fld>
            <a:endParaRPr lang="en-US"/>
          </a:p>
        </p:txBody>
      </p:sp>
      <p:sp>
        <p:nvSpPr>
          <p:cNvPr id="4" name="מציין מיקום של כותרת תחתונה 3"/>
          <p:cNvSpPr>
            <a:spLocks noGrp="1"/>
          </p:cNvSpPr>
          <p:nvPr>
            <p:ph type="ftr" sz="quarter" idx="11"/>
          </p:nvPr>
        </p:nvSpPr>
        <p:spPr/>
        <p:txBody>
          <a:bodyPr/>
          <a:lstStyle/>
          <a:p>
            <a:endParaRPr lang="en-US"/>
          </a:p>
        </p:txBody>
      </p:sp>
      <p:sp>
        <p:nvSpPr>
          <p:cNvPr id="5" name="מציין מיקום של מספר שקופית 4"/>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3001931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15D06275-38C3-476A-B920-0485044D3BC7}" type="datetimeFigureOut">
              <a:rPr lang="en-US" smtClean="0"/>
              <a:t>10/23/2025</a:t>
            </a:fld>
            <a:endParaRPr lang="en-US"/>
          </a:p>
        </p:txBody>
      </p:sp>
      <p:sp>
        <p:nvSpPr>
          <p:cNvPr id="3" name="מציין מיקום של כותרת תחתונה 2"/>
          <p:cNvSpPr>
            <a:spLocks noGrp="1"/>
          </p:cNvSpPr>
          <p:nvPr>
            <p:ph type="ftr" sz="quarter" idx="11"/>
          </p:nvPr>
        </p:nvSpPr>
        <p:spPr/>
        <p:txBody>
          <a:bodyPr/>
          <a:lstStyle/>
          <a:p>
            <a:endParaRPr lang="en-US"/>
          </a:p>
        </p:txBody>
      </p:sp>
      <p:sp>
        <p:nvSpPr>
          <p:cNvPr id="4" name="מציין מיקום של מספר שקופית 3"/>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2765878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15D06275-38C3-476A-B920-0485044D3BC7}" type="datetimeFigureOut">
              <a:rPr lang="en-US" smtClean="0"/>
              <a:t>10/23/2025</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1427651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en-US"/>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15D06275-38C3-476A-B920-0485044D3BC7}" type="datetimeFigureOut">
              <a:rPr lang="en-US" smtClean="0"/>
              <a:t>10/23/2025</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2867647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181166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97D01C00-B2A4-4788-BFCB-2681B555DC62}" type="slidenum">
              <a:rPr lang="en-US" smtClean="0"/>
              <a:t>‹#›</a:t>
            </a:fld>
            <a:endParaRPr lang="en-US"/>
          </a:p>
        </p:txBody>
      </p:sp>
    </p:spTree>
    <p:extLst>
      <p:ext uri="{BB962C8B-B14F-4D97-AF65-F5344CB8AC3E}">
        <p14:creationId xmlns:p14="http://schemas.microsoft.com/office/powerpoint/2010/main" val="386409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15D06275-38C3-476A-B920-0485044D3BC7}" type="datetimeFigureOut">
              <a:rPr lang="en-US" smtClean="0"/>
              <a:t>10/23/2025</a:t>
            </a:fld>
            <a:endParaRPr lang="en-US"/>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7D01C00-B2A4-4788-BFCB-2681B555DC62}" type="slidenum">
              <a:rPr lang="en-US" smtClean="0"/>
              <a:t>‹#›</a:t>
            </a:fld>
            <a:endParaRPr lang="en-US"/>
          </a:p>
        </p:txBody>
      </p:sp>
    </p:spTree>
    <p:extLst>
      <p:ext uri="{BB962C8B-B14F-4D97-AF65-F5344CB8AC3E}">
        <p14:creationId xmlns:p14="http://schemas.microsoft.com/office/powerpoint/2010/main" val="1709705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isramar.ocean.org.il/isramar2009/station/shikmonaBuoyM.aspx" TargetMode="Externa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isramar.ocean.org.il/isramar2009/station/shikmonaBuoyM.aspx"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1.wdp"/><Relationship Id="rId7" Type="http://schemas.openxmlformats.org/officeDocument/2006/relationships/image" Target="../media/image1.jpeg"/><Relationship Id="rId12" Type="http://schemas.openxmlformats.org/officeDocument/2006/relationships/image" Target="../media/image19.png"/><Relationship Id="rId2" Type="http://schemas.openxmlformats.org/officeDocument/2006/relationships/image" Target="../media/image13.png"/><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8.png"/><Relationship Id="rId5" Type="http://schemas.openxmlformats.org/officeDocument/2006/relationships/image" Target="../media/image15.png"/><Relationship Id="rId10" Type="http://schemas.microsoft.com/office/2007/relationships/hdphoto" Target="../media/hdphoto3.wdp"/><Relationship Id="rId4" Type="http://schemas.openxmlformats.org/officeDocument/2006/relationships/image" Target="../media/image14.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hyperlink" Target="https://geomembrane-factory.en.made-in-china.com/product/pAMUKbCOfRWc/China-Fabriform-for-Revetment-Channel-Dam-Linings-Fabric-Formed-Concrete-Revetment-Mattres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1fkx_bZBuWo" TargetMode="External"/><Relationship Id="rId2" Type="http://schemas.openxmlformats.org/officeDocument/2006/relationships/hyperlink" Target="https://www.youtube.com/watch?v=rP-1QNNjAWk"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zalul.org.il/webinar-shovrim/" TargetMode="External"/><Relationship Id="rId7" Type="http://schemas.openxmlformats.org/officeDocument/2006/relationships/hyperlink" Target="https://newshaifakrayot.net/?p=362896" TargetMode="External"/><Relationship Id="rId2" Type="http://schemas.openxmlformats.org/officeDocument/2006/relationships/hyperlink" Target="https://zalul.org.il/mazok-hofy/" TargetMode="External"/><Relationship Id="rId1" Type="http://schemas.openxmlformats.org/officeDocument/2006/relationships/slideLayout" Target="../slideLayouts/slideLayout2.xml"/><Relationship Id="rId6" Type="http://schemas.openxmlformats.org/officeDocument/2006/relationships/hyperlink" Target="https://www.kipa.co.il/%D7%97%D7%93%D7%A9%D7%95%D7%AA/1165297-0/" TargetMode="External"/><Relationship Id="rId5" Type="http://schemas.openxmlformats.org/officeDocument/2006/relationships/hyperlink" Target="https://www.gov.il/he/pages/netanya-coastal-cliff" TargetMode="External"/><Relationship Id="rId4" Type="http://schemas.openxmlformats.org/officeDocument/2006/relationships/hyperlink" Target="https://www.mccp.co.il/page.php?type=page&amp;id=8289&amp;m=217&amp;h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kan-ashdod.co.il/news/122249" TargetMode="External"/><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hyperlink" Target="mailto:ilan@mccp.co.il" TargetMode="Externa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zalul.org.il/mazok-hofy/"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קבוצה 3"/>
          <p:cNvGrpSpPr/>
          <p:nvPr/>
        </p:nvGrpSpPr>
        <p:grpSpPr>
          <a:xfrm>
            <a:off x="690826" y="1507838"/>
            <a:ext cx="6766776" cy="1917352"/>
            <a:chOff x="574190" y="2864198"/>
            <a:chExt cx="6766776" cy="1917352"/>
          </a:xfrm>
        </p:grpSpPr>
        <p:sp>
          <p:nvSpPr>
            <p:cNvPr id="5" name="מקבילית 4"/>
            <p:cNvSpPr/>
            <p:nvPr/>
          </p:nvSpPr>
          <p:spPr>
            <a:xfrm>
              <a:off x="574406" y="2864198"/>
              <a:ext cx="6766560" cy="1410789"/>
            </a:xfrm>
            <a:prstGeom prst="parallelogram">
              <a:avLst>
                <a:gd name="adj" fmla="val 323068"/>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טרפז 5"/>
            <p:cNvSpPr/>
            <p:nvPr/>
          </p:nvSpPr>
          <p:spPr>
            <a:xfrm rot="16320000">
              <a:off x="1423451" y="3386506"/>
              <a:ext cx="510000" cy="2208521"/>
            </a:xfrm>
            <a:prstGeom prst="trapezoid">
              <a:avLst>
                <a:gd name="adj" fmla="val 1443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מחבר ישר 6"/>
            <p:cNvCxnSpPr/>
            <p:nvPr/>
          </p:nvCxnSpPr>
          <p:spPr>
            <a:xfrm>
              <a:off x="7334348" y="2864198"/>
              <a:ext cx="0" cy="48098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מחבר ישר 7"/>
            <p:cNvCxnSpPr/>
            <p:nvPr/>
          </p:nvCxnSpPr>
          <p:spPr>
            <a:xfrm flipH="1">
              <a:off x="2767965" y="3345180"/>
              <a:ext cx="4566385" cy="143637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5982104" y="1184702"/>
            <a:ext cx="486030" cy="369332"/>
          </a:xfrm>
          <a:prstGeom prst="rect">
            <a:avLst/>
          </a:prstGeom>
          <a:noFill/>
        </p:spPr>
        <p:txBody>
          <a:bodyPr wrap="none" rtlCol="0">
            <a:spAutoFit/>
          </a:bodyPr>
          <a:lstStyle/>
          <a:p>
            <a:r>
              <a:rPr lang="en-US" dirty="0" smtClean="0"/>
              <a:t>2m</a:t>
            </a:r>
            <a:endParaRPr lang="en-US" dirty="0"/>
          </a:p>
        </p:txBody>
      </p:sp>
      <p:sp>
        <p:nvSpPr>
          <p:cNvPr id="10" name="TextBox 9"/>
          <p:cNvSpPr txBox="1"/>
          <p:nvPr/>
        </p:nvSpPr>
        <p:spPr>
          <a:xfrm rot="20509287">
            <a:off x="3025894" y="1742749"/>
            <a:ext cx="603050" cy="369332"/>
          </a:xfrm>
          <a:prstGeom prst="rect">
            <a:avLst/>
          </a:prstGeom>
          <a:noFill/>
        </p:spPr>
        <p:txBody>
          <a:bodyPr wrap="none" rtlCol="0">
            <a:spAutoFit/>
          </a:bodyPr>
          <a:lstStyle/>
          <a:p>
            <a:r>
              <a:rPr lang="en-US" dirty="0" smtClean="0"/>
              <a:t>10m</a:t>
            </a:r>
            <a:endParaRPr lang="en-US" dirty="0"/>
          </a:p>
        </p:txBody>
      </p:sp>
      <p:sp>
        <p:nvSpPr>
          <p:cNvPr id="11" name="TextBox 10"/>
          <p:cNvSpPr txBox="1"/>
          <p:nvPr/>
        </p:nvSpPr>
        <p:spPr>
          <a:xfrm>
            <a:off x="7597714" y="1619488"/>
            <a:ext cx="660758" cy="369332"/>
          </a:xfrm>
          <a:prstGeom prst="rect">
            <a:avLst/>
          </a:prstGeom>
          <a:noFill/>
        </p:spPr>
        <p:txBody>
          <a:bodyPr wrap="none" rtlCol="0">
            <a:spAutoFit/>
          </a:bodyPr>
          <a:lstStyle/>
          <a:p>
            <a:r>
              <a:rPr lang="en-US" dirty="0" smtClean="0"/>
              <a:t>0.2m</a:t>
            </a:r>
            <a:endParaRPr lang="en-US" dirty="0"/>
          </a:p>
        </p:txBody>
      </p:sp>
      <p:sp>
        <p:nvSpPr>
          <p:cNvPr id="12" name="TextBox 11"/>
          <p:cNvSpPr txBox="1"/>
          <p:nvPr/>
        </p:nvSpPr>
        <p:spPr>
          <a:xfrm>
            <a:off x="0" y="2918627"/>
            <a:ext cx="777778" cy="369332"/>
          </a:xfrm>
          <a:prstGeom prst="rect">
            <a:avLst/>
          </a:prstGeom>
          <a:noFill/>
        </p:spPr>
        <p:txBody>
          <a:bodyPr wrap="none" rtlCol="0">
            <a:spAutoFit/>
          </a:bodyPr>
          <a:lstStyle/>
          <a:p>
            <a:r>
              <a:rPr lang="en-US" dirty="0" smtClean="0"/>
              <a:t>0.15m</a:t>
            </a:r>
            <a:endParaRPr lang="en-US" dirty="0"/>
          </a:p>
        </p:txBody>
      </p:sp>
      <p:cxnSp>
        <p:nvCxnSpPr>
          <p:cNvPr id="13" name="מחבר חץ ישר 12"/>
          <p:cNvCxnSpPr/>
          <p:nvPr/>
        </p:nvCxnSpPr>
        <p:spPr>
          <a:xfrm flipH="1">
            <a:off x="4052638" y="989015"/>
            <a:ext cx="14003" cy="714511"/>
          </a:xfrm>
          <a:prstGeom prst="straightConnector1">
            <a:avLst/>
          </a:prstGeom>
          <a:ln w="28575">
            <a:prstDash val="sysDash"/>
            <a:tailEnd type="triangle"/>
          </a:ln>
        </p:spPr>
        <p:style>
          <a:lnRef idx="1">
            <a:schemeClr val="dk1"/>
          </a:lnRef>
          <a:fillRef idx="0">
            <a:schemeClr val="dk1"/>
          </a:fillRef>
          <a:effectRef idx="0">
            <a:schemeClr val="dk1"/>
          </a:effectRef>
          <a:fontRef idx="minor">
            <a:schemeClr val="tx1"/>
          </a:fontRef>
        </p:style>
      </p:cxnSp>
      <p:sp>
        <p:nvSpPr>
          <p:cNvPr id="14" name="TextBox 13"/>
          <p:cNvSpPr txBox="1"/>
          <p:nvPr/>
        </p:nvSpPr>
        <p:spPr>
          <a:xfrm>
            <a:off x="2856027" y="2949740"/>
            <a:ext cx="660758" cy="369332"/>
          </a:xfrm>
          <a:prstGeom prst="rect">
            <a:avLst/>
          </a:prstGeom>
          <a:noFill/>
        </p:spPr>
        <p:txBody>
          <a:bodyPr wrap="none" rtlCol="0">
            <a:spAutoFit/>
          </a:bodyPr>
          <a:lstStyle/>
          <a:p>
            <a:r>
              <a:rPr lang="en-US" dirty="0" smtClean="0"/>
              <a:t>0.2m</a:t>
            </a:r>
            <a:endParaRPr lang="en-US" dirty="0"/>
          </a:p>
        </p:txBody>
      </p:sp>
      <p:sp>
        <p:nvSpPr>
          <p:cNvPr id="17" name="מקבילית 16"/>
          <p:cNvSpPr/>
          <p:nvPr/>
        </p:nvSpPr>
        <p:spPr>
          <a:xfrm>
            <a:off x="8304409" y="2707005"/>
            <a:ext cx="2880000" cy="1440000"/>
          </a:xfrm>
          <a:prstGeom prst="parallelogram">
            <a:avLst>
              <a:gd name="adj" fmla="val 99584"/>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TextBox 17"/>
          <p:cNvSpPr txBox="1"/>
          <p:nvPr/>
        </p:nvSpPr>
        <p:spPr>
          <a:xfrm>
            <a:off x="10058118" y="1804154"/>
            <a:ext cx="486030" cy="369332"/>
          </a:xfrm>
          <a:prstGeom prst="rect">
            <a:avLst/>
          </a:prstGeom>
          <a:noFill/>
        </p:spPr>
        <p:txBody>
          <a:bodyPr wrap="none" rtlCol="0">
            <a:spAutoFit/>
          </a:bodyPr>
          <a:lstStyle/>
          <a:p>
            <a:r>
              <a:rPr lang="en-US" dirty="0" smtClean="0"/>
              <a:t>2m</a:t>
            </a:r>
            <a:endParaRPr lang="en-US" dirty="0"/>
          </a:p>
        </p:txBody>
      </p:sp>
      <p:sp>
        <p:nvSpPr>
          <p:cNvPr id="19" name="TextBox 18"/>
          <p:cNvSpPr txBox="1"/>
          <p:nvPr/>
        </p:nvSpPr>
        <p:spPr>
          <a:xfrm rot="19800472">
            <a:off x="2693620" y="5126029"/>
            <a:ext cx="603050" cy="369332"/>
          </a:xfrm>
          <a:prstGeom prst="rect">
            <a:avLst/>
          </a:prstGeom>
          <a:noFill/>
        </p:spPr>
        <p:txBody>
          <a:bodyPr wrap="none" rtlCol="0">
            <a:spAutoFit/>
          </a:bodyPr>
          <a:lstStyle/>
          <a:p>
            <a:r>
              <a:rPr lang="en-US" dirty="0" smtClean="0"/>
              <a:t>10m</a:t>
            </a:r>
            <a:endParaRPr lang="en-US" dirty="0"/>
          </a:p>
        </p:txBody>
      </p:sp>
      <p:sp>
        <p:nvSpPr>
          <p:cNvPr id="15" name="TextBox 14"/>
          <p:cNvSpPr txBox="1"/>
          <p:nvPr/>
        </p:nvSpPr>
        <p:spPr>
          <a:xfrm>
            <a:off x="4311886" y="5019212"/>
            <a:ext cx="486030" cy="369332"/>
          </a:xfrm>
          <a:prstGeom prst="rect">
            <a:avLst/>
          </a:prstGeom>
          <a:noFill/>
        </p:spPr>
        <p:txBody>
          <a:bodyPr wrap="none" rtlCol="0">
            <a:spAutoFit/>
          </a:bodyPr>
          <a:lstStyle/>
          <a:p>
            <a:r>
              <a:rPr lang="en-US" dirty="0" smtClean="0"/>
              <a:t>4m</a:t>
            </a:r>
            <a:endParaRPr lang="en-US" dirty="0"/>
          </a:p>
        </p:txBody>
      </p:sp>
      <p:cxnSp>
        <p:nvCxnSpPr>
          <p:cNvPr id="21" name="מחבר ישר 20"/>
          <p:cNvCxnSpPr/>
          <p:nvPr/>
        </p:nvCxnSpPr>
        <p:spPr>
          <a:xfrm>
            <a:off x="7010400" y="2795261"/>
            <a:ext cx="0" cy="93465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81733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562" y="1249935"/>
            <a:ext cx="2714141" cy="1754326"/>
          </a:xfrm>
          <a:prstGeom prst="rect">
            <a:avLst/>
          </a:prstGeom>
          <a:noFill/>
        </p:spPr>
        <p:txBody>
          <a:bodyPr wrap="none" rtlCol="0">
            <a:spAutoFit/>
          </a:bodyPr>
          <a:lstStyle/>
          <a:p>
            <a:pPr algn="l" rtl="0"/>
            <a:r>
              <a:rPr lang="en-US" sz="1200" b="1" u="sng" dirty="0" smtClean="0"/>
              <a:t>Sea Conditions:</a:t>
            </a:r>
          </a:p>
          <a:p>
            <a:pPr algn="l" rtl="0"/>
            <a:r>
              <a:rPr lang="en-US" sz="1200" u="sng" dirty="0" smtClean="0">
                <a:hlinkClick r:id="rId2"/>
              </a:rPr>
              <a:t>Measures</a:t>
            </a:r>
            <a:r>
              <a:rPr lang="en-US" sz="1200" dirty="0" smtClean="0"/>
              <a:t> were taken for days in which:</a:t>
            </a:r>
          </a:p>
          <a:p>
            <a:pPr algn="l" rtl="0"/>
            <a:r>
              <a:rPr lang="en-US" sz="1200" b="1" dirty="0" smtClean="0"/>
              <a:t>     Significant Wave Height:</a:t>
            </a:r>
            <a:r>
              <a:rPr lang="en-US" sz="1200" dirty="0" smtClean="0"/>
              <a:t> 0.45m-0.6m</a:t>
            </a:r>
          </a:p>
          <a:p>
            <a:pPr algn="l" rtl="0"/>
            <a:r>
              <a:rPr lang="en-US" sz="1200" b="1" dirty="0" smtClean="0"/>
              <a:t>     Maxima Wave Height:</a:t>
            </a:r>
            <a:r>
              <a:rPr lang="en-US" sz="1200" dirty="0" smtClean="0"/>
              <a:t>       0.6m-0.8m</a:t>
            </a:r>
          </a:p>
          <a:p>
            <a:pPr algn="l" rtl="0"/>
            <a:r>
              <a:rPr lang="en-US" sz="1200" dirty="0" smtClean="0"/>
              <a:t>Forecast for that days: </a:t>
            </a:r>
            <a:br>
              <a:rPr lang="en-US" sz="1200" dirty="0" smtClean="0"/>
            </a:br>
            <a:r>
              <a:rPr lang="en-US" sz="1200" dirty="0" smtClean="0"/>
              <a:t>        </a:t>
            </a:r>
            <a:r>
              <a:rPr lang="en-US" sz="1200" dirty="0" err="1" smtClean="0"/>
              <a:t>Surfline</a:t>
            </a:r>
            <a:r>
              <a:rPr lang="en-US" sz="1200" dirty="0" smtClean="0"/>
              <a:t> (MSW): 0.6m-0.9m</a:t>
            </a:r>
          </a:p>
          <a:p>
            <a:pPr algn="l" rtl="0"/>
            <a:r>
              <a:rPr lang="en-US" sz="1200" dirty="0"/>
              <a:t> </a:t>
            </a:r>
            <a:r>
              <a:rPr lang="en-US" sz="1200" dirty="0" smtClean="0"/>
              <a:t>       4Surfers:   0.65-0.8 (knee high)</a:t>
            </a:r>
            <a:br>
              <a:rPr lang="en-US" sz="1200" dirty="0" smtClean="0"/>
            </a:br>
            <a:r>
              <a:rPr lang="en-US" sz="1200" dirty="0" smtClean="0"/>
              <a:t>                          6s-8s, 0.85m-0.65m</a:t>
            </a:r>
            <a:br>
              <a:rPr lang="en-US" sz="1200" dirty="0" smtClean="0"/>
            </a:br>
            <a:r>
              <a:rPr lang="en-US" sz="1200" dirty="0" smtClean="0"/>
              <a:t>Swell direction: 285-294 </a:t>
            </a:r>
            <a:r>
              <a:rPr lang="en-US" sz="1200" dirty="0" err="1" smtClean="0"/>
              <a:t>deg</a:t>
            </a:r>
            <a:endParaRPr lang="en-US" sz="1200" dirty="0"/>
          </a:p>
        </p:txBody>
      </p:sp>
      <p:sp>
        <p:nvSpPr>
          <p:cNvPr id="3" name="מלבן 2"/>
          <p:cNvSpPr/>
          <p:nvPr/>
        </p:nvSpPr>
        <p:spPr>
          <a:xfrm>
            <a:off x="4020455" y="5287890"/>
            <a:ext cx="2951545" cy="824447"/>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Ocean Floor</a:t>
            </a:r>
            <a:endParaRPr lang="en-US" dirty="0">
              <a:solidFill>
                <a:schemeClr val="tx1"/>
              </a:solidFill>
            </a:endParaRPr>
          </a:p>
        </p:txBody>
      </p:sp>
      <p:sp>
        <p:nvSpPr>
          <p:cNvPr id="29" name="מלבן 28"/>
          <p:cNvSpPr/>
          <p:nvPr/>
        </p:nvSpPr>
        <p:spPr>
          <a:xfrm>
            <a:off x="4020455" y="3597985"/>
            <a:ext cx="2951545" cy="168990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Min Depth</a:t>
            </a:r>
            <a:endParaRPr lang="en-US" dirty="0"/>
          </a:p>
        </p:txBody>
      </p:sp>
      <p:sp>
        <p:nvSpPr>
          <p:cNvPr id="30" name="מלבן 29"/>
          <p:cNvSpPr/>
          <p:nvPr/>
        </p:nvSpPr>
        <p:spPr>
          <a:xfrm>
            <a:off x="4020454" y="3114494"/>
            <a:ext cx="2951545" cy="4834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Wave Breaking Depth</a:t>
            </a:r>
            <a:endParaRPr lang="en-US" dirty="0"/>
          </a:p>
        </p:txBody>
      </p:sp>
      <p:sp>
        <p:nvSpPr>
          <p:cNvPr id="31" name="מלבן 30"/>
          <p:cNvSpPr/>
          <p:nvPr/>
        </p:nvSpPr>
        <p:spPr>
          <a:xfrm>
            <a:off x="4020454" y="2773538"/>
            <a:ext cx="2951545" cy="38460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 Breaking*</a:t>
            </a:r>
            <a:endParaRPr lang="en-US" dirty="0"/>
          </a:p>
        </p:txBody>
      </p:sp>
      <p:sp>
        <p:nvSpPr>
          <p:cNvPr id="16" name="מלבן 15"/>
          <p:cNvSpPr/>
          <p:nvPr/>
        </p:nvSpPr>
        <p:spPr>
          <a:xfrm>
            <a:off x="3045417" y="3016371"/>
            <a:ext cx="882436" cy="369332"/>
          </a:xfrm>
          <a:prstGeom prst="rect">
            <a:avLst/>
          </a:prstGeom>
        </p:spPr>
        <p:txBody>
          <a:bodyPr wrap="square">
            <a:spAutoFit/>
          </a:bodyPr>
          <a:lstStyle/>
          <a:p>
            <a:r>
              <a:rPr lang="en-US" dirty="0" smtClean="0"/>
              <a:t>1.3m</a:t>
            </a:r>
            <a:endParaRPr lang="en-US" dirty="0"/>
          </a:p>
        </p:txBody>
      </p:sp>
      <p:sp>
        <p:nvSpPr>
          <p:cNvPr id="32" name="מלבן 31"/>
          <p:cNvSpPr/>
          <p:nvPr/>
        </p:nvSpPr>
        <p:spPr>
          <a:xfrm>
            <a:off x="3138016" y="3385703"/>
            <a:ext cx="882436" cy="369332"/>
          </a:xfrm>
          <a:prstGeom prst="rect">
            <a:avLst/>
          </a:prstGeom>
        </p:spPr>
        <p:txBody>
          <a:bodyPr wrap="square">
            <a:spAutoFit/>
          </a:bodyPr>
          <a:lstStyle/>
          <a:p>
            <a:r>
              <a:rPr lang="en-US" dirty="0" smtClean="0"/>
              <a:t>1.15m</a:t>
            </a:r>
            <a:endParaRPr lang="en-US" dirty="0"/>
          </a:p>
        </p:txBody>
      </p:sp>
      <p:sp>
        <p:nvSpPr>
          <p:cNvPr id="33" name="מלבן 32"/>
          <p:cNvSpPr/>
          <p:nvPr/>
        </p:nvSpPr>
        <p:spPr>
          <a:xfrm>
            <a:off x="3138016" y="2588112"/>
            <a:ext cx="882436" cy="369332"/>
          </a:xfrm>
          <a:prstGeom prst="rect">
            <a:avLst/>
          </a:prstGeom>
        </p:spPr>
        <p:txBody>
          <a:bodyPr wrap="square">
            <a:spAutoFit/>
          </a:bodyPr>
          <a:lstStyle/>
          <a:p>
            <a:r>
              <a:rPr lang="en-US" dirty="0" smtClean="0"/>
              <a:t>1.45m</a:t>
            </a:r>
            <a:endParaRPr lang="en-US" dirty="0"/>
          </a:p>
        </p:txBody>
      </p:sp>
      <p:sp>
        <p:nvSpPr>
          <p:cNvPr id="34" name="מלבן 33"/>
          <p:cNvSpPr/>
          <p:nvPr/>
        </p:nvSpPr>
        <p:spPr>
          <a:xfrm>
            <a:off x="2772295" y="1862209"/>
            <a:ext cx="2621167" cy="646331"/>
          </a:xfrm>
          <a:prstGeom prst="rect">
            <a:avLst/>
          </a:prstGeom>
        </p:spPr>
        <p:txBody>
          <a:bodyPr wrap="none">
            <a:spAutoFit/>
          </a:bodyPr>
          <a:lstStyle/>
          <a:p>
            <a:pPr algn="ctr" rtl="0"/>
            <a:r>
              <a:rPr lang="en-US" b="1" dirty="0" smtClean="0"/>
              <a:t>Low Bound</a:t>
            </a:r>
            <a:r>
              <a:rPr lang="en-US" dirty="0" smtClean="0"/>
              <a:t/>
            </a:r>
            <a:br>
              <a:rPr lang="en-US" dirty="0" smtClean="0"/>
            </a:br>
            <a:r>
              <a:rPr lang="en-US" dirty="0" smtClean="0"/>
              <a:t>(SWH 0.45m, MWH:0.6m)</a:t>
            </a:r>
            <a:endParaRPr lang="en-US" dirty="0"/>
          </a:p>
        </p:txBody>
      </p:sp>
      <p:sp>
        <p:nvSpPr>
          <p:cNvPr id="35" name="מלבן 34"/>
          <p:cNvSpPr/>
          <p:nvPr/>
        </p:nvSpPr>
        <p:spPr>
          <a:xfrm>
            <a:off x="5961612" y="1824941"/>
            <a:ext cx="2504147" cy="646331"/>
          </a:xfrm>
          <a:prstGeom prst="rect">
            <a:avLst/>
          </a:prstGeom>
        </p:spPr>
        <p:txBody>
          <a:bodyPr wrap="none">
            <a:spAutoFit/>
          </a:bodyPr>
          <a:lstStyle/>
          <a:p>
            <a:pPr algn="ctr" rtl="0"/>
            <a:r>
              <a:rPr lang="en-US" b="1" dirty="0" smtClean="0"/>
              <a:t>High Bound</a:t>
            </a:r>
            <a:br>
              <a:rPr lang="en-US" b="1" dirty="0" smtClean="0"/>
            </a:br>
            <a:r>
              <a:rPr lang="en-US" dirty="0" smtClean="0"/>
              <a:t>(SWH 0.6m, MWH:0.8m)</a:t>
            </a:r>
            <a:endParaRPr lang="en-US" dirty="0"/>
          </a:p>
        </p:txBody>
      </p:sp>
      <p:sp>
        <p:nvSpPr>
          <p:cNvPr id="43" name="מלבן 42"/>
          <p:cNvSpPr/>
          <p:nvPr/>
        </p:nvSpPr>
        <p:spPr>
          <a:xfrm>
            <a:off x="6849084" y="2986907"/>
            <a:ext cx="882436" cy="369332"/>
          </a:xfrm>
          <a:prstGeom prst="rect">
            <a:avLst/>
          </a:prstGeom>
        </p:spPr>
        <p:txBody>
          <a:bodyPr wrap="square">
            <a:spAutoFit/>
          </a:bodyPr>
          <a:lstStyle/>
          <a:p>
            <a:r>
              <a:rPr lang="en-US" dirty="0" smtClean="0"/>
              <a:t>1.5m</a:t>
            </a:r>
            <a:endParaRPr lang="en-US" dirty="0"/>
          </a:p>
        </p:txBody>
      </p:sp>
      <p:sp>
        <p:nvSpPr>
          <p:cNvPr id="44" name="מלבן 43"/>
          <p:cNvSpPr/>
          <p:nvPr/>
        </p:nvSpPr>
        <p:spPr>
          <a:xfrm>
            <a:off x="6971999" y="3366280"/>
            <a:ext cx="882436" cy="369332"/>
          </a:xfrm>
          <a:prstGeom prst="rect">
            <a:avLst/>
          </a:prstGeom>
        </p:spPr>
        <p:txBody>
          <a:bodyPr wrap="square">
            <a:spAutoFit/>
          </a:bodyPr>
          <a:lstStyle/>
          <a:p>
            <a:r>
              <a:rPr lang="en-US" dirty="0" smtClean="0"/>
              <a:t>1.35m</a:t>
            </a:r>
            <a:endParaRPr lang="en-US" dirty="0"/>
          </a:p>
        </p:txBody>
      </p:sp>
      <p:sp>
        <p:nvSpPr>
          <p:cNvPr id="45" name="מלבן 44"/>
          <p:cNvSpPr/>
          <p:nvPr/>
        </p:nvSpPr>
        <p:spPr>
          <a:xfrm>
            <a:off x="7061831" y="2605604"/>
            <a:ext cx="882436" cy="369332"/>
          </a:xfrm>
          <a:prstGeom prst="rect">
            <a:avLst/>
          </a:prstGeom>
        </p:spPr>
        <p:txBody>
          <a:bodyPr wrap="square">
            <a:spAutoFit/>
          </a:bodyPr>
          <a:lstStyle/>
          <a:p>
            <a:pPr algn="l" rtl="0"/>
            <a:r>
              <a:rPr lang="en-US" dirty="0" smtClean="0"/>
              <a:t>1.7m</a:t>
            </a:r>
            <a:endParaRPr lang="en-US" dirty="0"/>
          </a:p>
        </p:txBody>
      </p:sp>
      <p:sp>
        <p:nvSpPr>
          <p:cNvPr id="46" name="מלבן 45"/>
          <p:cNvSpPr/>
          <p:nvPr/>
        </p:nvSpPr>
        <p:spPr>
          <a:xfrm>
            <a:off x="35654" y="5017146"/>
            <a:ext cx="2749017" cy="1384995"/>
          </a:xfrm>
          <a:prstGeom prst="rect">
            <a:avLst/>
          </a:prstGeom>
        </p:spPr>
        <p:txBody>
          <a:bodyPr wrap="square">
            <a:spAutoFit/>
          </a:bodyPr>
          <a:lstStyle/>
          <a:p>
            <a:pPr algn="l" rtl="0"/>
            <a:r>
              <a:rPr lang="en-US" sz="1200" b="1" u="sng" dirty="0" smtClean="0"/>
              <a:t>Terminology Notes:</a:t>
            </a:r>
          </a:p>
          <a:p>
            <a:pPr algn="l" rtl="0"/>
            <a:r>
              <a:rPr lang="en-US" sz="1200" dirty="0" smtClean="0"/>
              <a:t>* The max height of ‘</a:t>
            </a:r>
            <a:r>
              <a:rPr lang="en-US" sz="1200" b="1" dirty="0" smtClean="0"/>
              <a:t>No Breaking</a:t>
            </a:r>
            <a:r>
              <a:rPr lang="en-US" sz="1200" dirty="0" smtClean="0"/>
              <a:t>’ represent min break depth for mega sets.</a:t>
            </a:r>
            <a:br>
              <a:rPr lang="en-US" sz="1200" dirty="0" smtClean="0"/>
            </a:br>
            <a:r>
              <a:rPr lang="en-US" sz="1200" dirty="0" smtClean="0"/>
              <a:t>** ‘</a:t>
            </a:r>
            <a:r>
              <a:rPr lang="en-US" sz="1200" b="1" dirty="0" smtClean="0"/>
              <a:t>Min Depth</a:t>
            </a:r>
            <a:r>
              <a:rPr lang="en-US" sz="1200" dirty="0" smtClean="0"/>
              <a:t>’ represent the breaking depth of the smallest part of the wave that is still possible to surf on (Meaning – smallest shoulder/intersection).</a:t>
            </a:r>
            <a:endParaRPr lang="en-US" sz="1200" dirty="0"/>
          </a:p>
        </p:txBody>
      </p:sp>
      <p:sp>
        <p:nvSpPr>
          <p:cNvPr id="55" name="מלבן 54"/>
          <p:cNvSpPr/>
          <p:nvPr/>
        </p:nvSpPr>
        <p:spPr>
          <a:xfrm>
            <a:off x="8562550" y="5899034"/>
            <a:ext cx="3493391" cy="223134"/>
          </a:xfrm>
          <a:prstGeom prst="rect">
            <a:avLst/>
          </a:pr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Ocean Floor</a:t>
            </a:r>
            <a:endParaRPr lang="en-US" dirty="0">
              <a:solidFill>
                <a:schemeClr val="tx1"/>
              </a:solidFill>
            </a:endParaRPr>
          </a:p>
        </p:txBody>
      </p:sp>
      <p:sp>
        <p:nvSpPr>
          <p:cNvPr id="53" name="מלבן 52"/>
          <p:cNvSpPr/>
          <p:nvPr/>
        </p:nvSpPr>
        <p:spPr>
          <a:xfrm>
            <a:off x="4278536" y="843639"/>
            <a:ext cx="2041841" cy="400110"/>
          </a:xfrm>
          <a:prstGeom prst="rect">
            <a:avLst/>
          </a:prstGeom>
        </p:spPr>
        <p:txBody>
          <a:bodyPr wrap="none">
            <a:spAutoFit/>
          </a:bodyPr>
          <a:lstStyle/>
          <a:p>
            <a:pPr algn="l" rtl="0"/>
            <a:r>
              <a:rPr lang="en-US" sz="2000" b="1" u="sng" dirty="0" smtClean="0"/>
              <a:t>Depths Measures</a:t>
            </a:r>
            <a:endParaRPr lang="en-US" sz="2000" u="sng" dirty="0"/>
          </a:p>
        </p:txBody>
      </p:sp>
      <p:grpSp>
        <p:nvGrpSpPr>
          <p:cNvPr id="66" name="קבוצה 65"/>
          <p:cNvGrpSpPr/>
          <p:nvPr/>
        </p:nvGrpSpPr>
        <p:grpSpPr>
          <a:xfrm>
            <a:off x="173740" y="3003537"/>
            <a:ext cx="2517500" cy="2036759"/>
            <a:chOff x="229360" y="4200048"/>
            <a:chExt cx="2517500" cy="2036759"/>
          </a:xfrm>
        </p:grpSpPr>
        <p:pic>
          <p:nvPicPr>
            <p:cNvPr id="1026" name="Picture 2" descr="4+ Hundred Easy Ocean Waves Drawing Royalty-Free Images, Stock Photos &amp;  Pictures | Shutterstock"/>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9304"/>
            <a:stretch/>
          </p:blipFill>
          <p:spPr bwMode="auto">
            <a:xfrm rot="314860">
              <a:off x="391312" y="4721369"/>
              <a:ext cx="2069553" cy="754029"/>
            </a:xfrm>
            <a:prstGeom prst="rect">
              <a:avLst/>
            </a:prstGeom>
            <a:noFill/>
            <a:extLst>
              <a:ext uri="{909E8E84-426E-40DD-AFC4-6F175D3DCCD1}">
                <a14:hiddenFill xmlns:a14="http://schemas.microsoft.com/office/drawing/2010/main">
                  <a:solidFill>
                    <a:srgbClr val="FFFFFF"/>
                  </a:solidFill>
                </a14:hiddenFill>
              </a:ext>
            </a:extLst>
          </p:spPr>
        </p:pic>
        <p:cxnSp>
          <p:nvCxnSpPr>
            <p:cNvPr id="48" name="מחבר חץ ישר 47"/>
            <p:cNvCxnSpPr/>
            <p:nvPr/>
          </p:nvCxnSpPr>
          <p:spPr>
            <a:xfrm flipV="1">
              <a:off x="417162" y="5371470"/>
              <a:ext cx="0" cy="4011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2" name="מלבן 51"/>
            <p:cNvSpPr/>
            <p:nvPr/>
          </p:nvSpPr>
          <p:spPr>
            <a:xfrm>
              <a:off x="286155" y="5775142"/>
              <a:ext cx="2177119" cy="461665"/>
            </a:xfrm>
            <a:prstGeom prst="rect">
              <a:avLst/>
            </a:prstGeom>
          </p:spPr>
          <p:txBody>
            <a:bodyPr wrap="square">
              <a:spAutoFit/>
            </a:bodyPr>
            <a:lstStyle/>
            <a:p>
              <a:pPr algn="l" rtl="0"/>
              <a:r>
                <a:rPr lang="en-US" sz="1200" dirty="0" smtClean="0"/>
                <a:t>Depth measures were taken ~1sec after the wave broke</a:t>
              </a:r>
              <a:endParaRPr lang="en-US" sz="1200" dirty="0"/>
            </a:p>
          </p:txBody>
        </p:sp>
        <p:sp>
          <p:nvSpPr>
            <p:cNvPr id="54" name="מלבן 53"/>
            <p:cNvSpPr/>
            <p:nvPr/>
          </p:nvSpPr>
          <p:spPr>
            <a:xfrm>
              <a:off x="229360" y="4201432"/>
              <a:ext cx="2517500" cy="523220"/>
            </a:xfrm>
            <a:prstGeom prst="rect">
              <a:avLst/>
            </a:prstGeom>
          </p:spPr>
          <p:txBody>
            <a:bodyPr wrap="square">
              <a:spAutoFit/>
            </a:bodyPr>
            <a:lstStyle/>
            <a:p>
              <a:pPr algn="l" rtl="0"/>
              <a:r>
                <a:rPr lang="en-US" sz="1400" b="1" dirty="0" smtClean="0"/>
                <a:t>Note: Depth Measurement Position</a:t>
              </a:r>
              <a:endParaRPr lang="en-US" sz="1400" b="1" dirty="0"/>
            </a:p>
          </p:txBody>
        </p:sp>
        <p:sp>
          <p:nvSpPr>
            <p:cNvPr id="56" name="מלבן 55"/>
            <p:cNvSpPr/>
            <p:nvPr/>
          </p:nvSpPr>
          <p:spPr>
            <a:xfrm>
              <a:off x="254618" y="4200048"/>
              <a:ext cx="2236393" cy="20367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8" name="Picture 2" descr="4+ Hundred Easy Ocean Waves Drawing Royalty-Free Images, Stock Photos &amp;  Pictures | Shutterstock"/>
          <p:cNvPicPr>
            <a:picLocks noChangeAspect="1" noChangeArrowheads="1"/>
          </p:cNvPicPr>
          <p:nvPr/>
        </p:nvPicPr>
        <p:blipFill rotWithShape="1">
          <a:blip r:embed="rId5">
            <a:extLst>
              <a:ext uri="{28A0092B-C50C-407E-A947-70E740481C1C}">
                <a14:useLocalDpi xmlns:a14="http://schemas.microsoft.com/office/drawing/2010/main" val="0"/>
              </a:ext>
            </a:extLst>
          </a:blip>
          <a:srcRect r="8912" b="9304"/>
          <a:stretch/>
        </p:blipFill>
        <p:spPr bwMode="auto">
          <a:xfrm rot="314860">
            <a:off x="9063321" y="2839098"/>
            <a:ext cx="3155018" cy="1261969"/>
          </a:xfrm>
          <a:prstGeom prst="rect">
            <a:avLst/>
          </a:prstGeom>
          <a:noFill/>
          <a:extLst>
            <a:ext uri="{909E8E84-426E-40DD-AFC4-6F175D3DCCD1}">
              <a14:hiddenFill xmlns:a14="http://schemas.microsoft.com/office/drawing/2010/main">
                <a:solidFill>
                  <a:srgbClr val="FFFFFF"/>
                </a:solidFill>
              </a14:hiddenFill>
            </a:ext>
          </a:extLst>
        </p:spPr>
      </p:pic>
      <p:sp>
        <p:nvSpPr>
          <p:cNvPr id="59" name="מלבן 58"/>
          <p:cNvSpPr/>
          <p:nvPr/>
        </p:nvSpPr>
        <p:spPr>
          <a:xfrm>
            <a:off x="9076706" y="835116"/>
            <a:ext cx="2006831" cy="400110"/>
          </a:xfrm>
          <a:prstGeom prst="rect">
            <a:avLst/>
          </a:prstGeom>
        </p:spPr>
        <p:txBody>
          <a:bodyPr wrap="none">
            <a:spAutoFit/>
          </a:bodyPr>
          <a:lstStyle/>
          <a:p>
            <a:pPr algn="l" rtl="0"/>
            <a:r>
              <a:rPr lang="en-US" sz="2000" b="1" u="sng" dirty="0" smtClean="0"/>
              <a:t>Length Measures</a:t>
            </a:r>
            <a:endParaRPr lang="en-US" sz="2000" u="sng" dirty="0"/>
          </a:p>
        </p:txBody>
      </p:sp>
      <p:sp>
        <p:nvSpPr>
          <p:cNvPr id="57" name="מלבן 56"/>
          <p:cNvSpPr/>
          <p:nvPr/>
        </p:nvSpPr>
        <p:spPr>
          <a:xfrm>
            <a:off x="8658943" y="1736163"/>
            <a:ext cx="3486562" cy="584775"/>
          </a:xfrm>
          <a:prstGeom prst="rect">
            <a:avLst/>
          </a:prstGeom>
        </p:spPr>
        <p:txBody>
          <a:bodyPr wrap="square">
            <a:spAutoFit/>
          </a:bodyPr>
          <a:lstStyle/>
          <a:p>
            <a:pPr algn="l" rtl="0"/>
            <a:r>
              <a:rPr lang="en-US" sz="1600" dirty="0" smtClean="0"/>
              <a:t>Were taken in the same condition, Accuracy level: +-0.5m</a:t>
            </a:r>
            <a:endParaRPr lang="en-US" sz="1600" dirty="0"/>
          </a:p>
        </p:txBody>
      </p:sp>
      <p:sp>
        <p:nvSpPr>
          <p:cNvPr id="61" name="מלבן 60"/>
          <p:cNvSpPr/>
          <p:nvPr/>
        </p:nvSpPr>
        <p:spPr>
          <a:xfrm>
            <a:off x="8555591" y="4968595"/>
            <a:ext cx="3500350" cy="93043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Min Depth</a:t>
            </a:r>
            <a:endParaRPr lang="en-US" dirty="0"/>
          </a:p>
        </p:txBody>
      </p:sp>
      <p:sp>
        <p:nvSpPr>
          <p:cNvPr id="62" name="מלבן 61"/>
          <p:cNvSpPr/>
          <p:nvPr/>
        </p:nvSpPr>
        <p:spPr>
          <a:xfrm>
            <a:off x="8555591" y="4494595"/>
            <a:ext cx="2584387" cy="4834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Wave Breaking Depth</a:t>
            </a:r>
            <a:endParaRPr lang="en-US" sz="1600" dirty="0"/>
          </a:p>
        </p:txBody>
      </p:sp>
      <p:sp>
        <p:nvSpPr>
          <p:cNvPr id="63" name="מלבן 62"/>
          <p:cNvSpPr/>
          <p:nvPr/>
        </p:nvSpPr>
        <p:spPr>
          <a:xfrm>
            <a:off x="9196059" y="3937472"/>
            <a:ext cx="2412330" cy="369332"/>
          </a:xfrm>
          <a:prstGeom prst="rect">
            <a:avLst/>
          </a:prstGeom>
        </p:spPr>
        <p:txBody>
          <a:bodyPr wrap="square">
            <a:spAutoFit/>
          </a:bodyPr>
          <a:lstStyle/>
          <a:p>
            <a:pPr algn="l" rtl="0"/>
            <a:r>
              <a:rPr lang="en-US" dirty="0" smtClean="0">
                <a:solidFill>
                  <a:srgbClr val="0070C0"/>
                </a:solidFill>
              </a:rPr>
              <a:t>2m Until Break</a:t>
            </a:r>
            <a:endParaRPr lang="en-US" dirty="0">
              <a:solidFill>
                <a:srgbClr val="0070C0"/>
              </a:solidFill>
            </a:endParaRPr>
          </a:p>
        </p:txBody>
      </p:sp>
      <p:sp>
        <p:nvSpPr>
          <p:cNvPr id="64" name="מלבן 63"/>
          <p:cNvSpPr/>
          <p:nvPr/>
        </p:nvSpPr>
        <p:spPr>
          <a:xfrm>
            <a:off x="8562551" y="4114588"/>
            <a:ext cx="570598" cy="38460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סוגר מסולסל שמאלי 64"/>
          <p:cNvSpPr/>
          <p:nvPr/>
        </p:nvSpPr>
        <p:spPr>
          <a:xfrm rot="5400000">
            <a:off x="10030669" y="3365687"/>
            <a:ext cx="176280" cy="1971322"/>
          </a:xfrm>
          <a:prstGeom prst="leftBrace">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
        <p:nvSpPr>
          <p:cNvPr id="67" name="מלבן 66"/>
          <p:cNvSpPr/>
          <p:nvPr/>
        </p:nvSpPr>
        <p:spPr>
          <a:xfrm>
            <a:off x="4711963" y="6053180"/>
            <a:ext cx="1451103" cy="400110"/>
          </a:xfrm>
          <a:prstGeom prst="rect">
            <a:avLst/>
          </a:prstGeom>
        </p:spPr>
        <p:txBody>
          <a:bodyPr wrap="none">
            <a:spAutoFit/>
          </a:bodyPr>
          <a:lstStyle/>
          <a:p>
            <a:pPr algn="l" rtl="0"/>
            <a:r>
              <a:rPr lang="en-US" sz="2000" b="1" dirty="0" smtClean="0">
                <a:solidFill>
                  <a:schemeClr val="bg2">
                    <a:lumMod val="75000"/>
                  </a:schemeClr>
                </a:solidFill>
              </a:rPr>
              <a:t>‘Front’ view</a:t>
            </a:r>
            <a:endParaRPr lang="en-US" sz="2000" b="1" dirty="0">
              <a:solidFill>
                <a:schemeClr val="bg2">
                  <a:lumMod val="75000"/>
                </a:schemeClr>
              </a:solidFill>
            </a:endParaRPr>
          </a:p>
        </p:txBody>
      </p:sp>
      <p:sp>
        <p:nvSpPr>
          <p:cNvPr id="69" name="מלבן 68"/>
          <p:cNvSpPr/>
          <p:nvPr/>
        </p:nvSpPr>
        <p:spPr>
          <a:xfrm>
            <a:off x="9621509" y="6048331"/>
            <a:ext cx="1329531" cy="400110"/>
          </a:xfrm>
          <a:prstGeom prst="rect">
            <a:avLst/>
          </a:prstGeom>
        </p:spPr>
        <p:txBody>
          <a:bodyPr wrap="none">
            <a:spAutoFit/>
          </a:bodyPr>
          <a:lstStyle/>
          <a:p>
            <a:pPr algn="l" rtl="0"/>
            <a:r>
              <a:rPr lang="en-US" sz="2000" b="1" dirty="0" smtClean="0">
                <a:solidFill>
                  <a:schemeClr val="bg2">
                    <a:lumMod val="75000"/>
                  </a:schemeClr>
                </a:solidFill>
              </a:rPr>
              <a:t>‘Side’ view</a:t>
            </a:r>
            <a:endParaRPr lang="en-US" sz="2000" b="1" dirty="0">
              <a:solidFill>
                <a:schemeClr val="bg2">
                  <a:lumMod val="75000"/>
                </a:schemeClr>
              </a:solidFill>
            </a:endParaRPr>
          </a:p>
        </p:txBody>
      </p:sp>
      <p:cxnSp>
        <p:nvCxnSpPr>
          <p:cNvPr id="70" name="מחבר ישר 69"/>
          <p:cNvCxnSpPr/>
          <p:nvPr/>
        </p:nvCxnSpPr>
        <p:spPr>
          <a:xfrm>
            <a:off x="8465759" y="850019"/>
            <a:ext cx="0" cy="5701252"/>
          </a:xfrm>
          <a:prstGeom prst="line">
            <a:avLst/>
          </a:prstGeom>
        </p:spPr>
        <p:style>
          <a:lnRef idx="1">
            <a:schemeClr val="dk1"/>
          </a:lnRef>
          <a:fillRef idx="0">
            <a:schemeClr val="dk1"/>
          </a:fillRef>
          <a:effectRef idx="0">
            <a:schemeClr val="dk1"/>
          </a:effectRef>
          <a:fontRef idx="minor">
            <a:schemeClr val="tx1"/>
          </a:fontRef>
        </p:style>
      </p:cxnSp>
      <p:cxnSp>
        <p:nvCxnSpPr>
          <p:cNvPr id="72" name="מחבר ישר 71"/>
          <p:cNvCxnSpPr/>
          <p:nvPr/>
        </p:nvCxnSpPr>
        <p:spPr>
          <a:xfrm>
            <a:off x="2783158" y="964204"/>
            <a:ext cx="1513" cy="5494469"/>
          </a:xfrm>
          <a:prstGeom prst="line">
            <a:avLst/>
          </a:prstGeom>
        </p:spPr>
        <p:style>
          <a:lnRef idx="1">
            <a:schemeClr val="dk1"/>
          </a:lnRef>
          <a:fillRef idx="0">
            <a:schemeClr val="dk1"/>
          </a:fillRef>
          <a:effectRef idx="0">
            <a:schemeClr val="dk1"/>
          </a:effectRef>
          <a:fontRef idx="minor">
            <a:schemeClr val="tx1"/>
          </a:fontRef>
        </p:style>
      </p:cxnSp>
      <p:sp>
        <p:nvSpPr>
          <p:cNvPr id="73" name="מלבן 72"/>
          <p:cNvSpPr/>
          <p:nvPr/>
        </p:nvSpPr>
        <p:spPr>
          <a:xfrm>
            <a:off x="329047" y="874562"/>
            <a:ext cx="2031967" cy="400110"/>
          </a:xfrm>
          <a:prstGeom prst="rect">
            <a:avLst/>
          </a:prstGeom>
        </p:spPr>
        <p:txBody>
          <a:bodyPr wrap="none">
            <a:spAutoFit/>
          </a:bodyPr>
          <a:lstStyle/>
          <a:p>
            <a:pPr algn="l" rtl="0"/>
            <a:r>
              <a:rPr lang="en-US" sz="2000" b="1" u="sng" dirty="0" smtClean="0"/>
              <a:t>Notes and details</a:t>
            </a:r>
            <a:endParaRPr lang="en-US" sz="2000" u="sng" dirty="0"/>
          </a:p>
        </p:txBody>
      </p:sp>
      <p:sp>
        <p:nvSpPr>
          <p:cNvPr id="74" name="מלבן 73"/>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745860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קבוצה 20"/>
          <p:cNvGrpSpPr/>
          <p:nvPr/>
        </p:nvGrpSpPr>
        <p:grpSpPr>
          <a:xfrm>
            <a:off x="7728058" y="1185063"/>
            <a:ext cx="3426706" cy="4749549"/>
            <a:chOff x="7832700" y="1209344"/>
            <a:chExt cx="3426706" cy="4749549"/>
          </a:xfrm>
        </p:grpSpPr>
        <p:pic>
          <p:nvPicPr>
            <p:cNvPr id="4" name="תמונה 3"/>
            <p:cNvPicPr>
              <a:picLocks noChangeAspect="1"/>
            </p:cNvPicPr>
            <p:nvPr/>
          </p:nvPicPr>
          <p:blipFill rotWithShape="1">
            <a:blip r:embed="rId2"/>
            <a:srcRect r="94202" b="7038"/>
            <a:stretch/>
          </p:blipFill>
          <p:spPr>
            <a:xfrm>
              <a:off x="7832700" y="1209344"/>
              <a:ext cx="547820" cy="4410221"/>
            </a:xfrm>
            <a:prstGeom prst="rect">
              <a:avLst/>
            </a:prstGeom>
          </p:spPr>
        </p:pic>
        <p:pic>
          <p:nvPicPr>
            <p:cNvPr id="6" name="תמונה 5"/>
            <p:cNvPicPr>
              <a:picLocks noChangeAspect="1"/>
            </p:cNvPicPr>
            <p:nvPr/>
          </p:nvPicPr>
          <p:blipFill rotWithShape="1">
            <a:blip r:embed="rId3"/>
            <a:srcRect l="71382" t="6316"/>
            <a:stretch/>
          </p:blipFill>
          <p:spPr>
            <a:xfrm>
              <a:off x="8380520" y="1550126"/>
              <a:ext cx="2878886" cy="4408767"/>
            </a:xfrm>
            <a:prstGeom prst="rect">
              <a:avLst/>
            </a:prstGeom>
          </p:spPr>
        </p:pic>
      </p:grpSp>
      <p:grpSp>
        <p:nvGrpSpPr>
          <p:cNvPr id="7" name="קבוצה 6"/>
          <p:cNvGrpSpPr/>
          <p:nvPr/>
        </p:nvGrpSpPr>
        <p:grpSpPr>
          <a:xfrm>
            <a:off x="1456818" y="1342663"/>
            <a:ext cx="9478698" cy="5155398"/>
            <a:chOff x="571520" y="1684613"/>
            <a:chExt cx="9478698" cy="5155398"/>
          </a:xfrm>
        </p:grpSpPr>
        <p:grpSp>
          <p:nvGrpSpPr>
            <p:cNvPr id="5" name="קבוצה 4"/>
            <p:cNvGrpSpPr/>
            <p:nvPr/>
          </p:nvGrpSpPr>
          <p:grpSpPr>
            <a:xfrm>
              <a:off x="571520" y="1684613"/>
              <a:ext cx="9478698" cy="4517784"/>
              <a:chOff x="1059200" y="1166453"/>
              <a:chExt cx="9478698" cy="4517784"/>
            </a:xfrm>
          </p:grpSpPr>
          <p:pic>
            <p:nvPicPr>
              <p:cNvPr id="2" name="תמונה 1"/>
              <p:cNvPicPr>
                <a:picLocks noChangeAspect="1"/>
              </p:cNvPicPr>
              <p:nvPr/>
            </p:nvPicPr>
            <p:blipFill rotWithShape="1">
              <a:blip r:embed="rId4"/>
              <a:srcRect t="1813"/>
              <a:stretch/>
            </p:blipFill>
            <p:spPr>
              <a:xfrm>
                <a:off x="1059200" y="1166453"/>
                <a:ext cx="9478698" cy="4517784"/>
              </a:xfrm>
              <a:prstGeom prst="rect">
                <a:avLst/>
              </a:prstGeom>
            </p:spPr>
          </p:pic>
          <p:sp>
            <p:nvSpPr>
              <p:cNvPr id="3" name="מלבן מעוגל 2"/>
              <p:cNvSpPr/>
              <p:nvPr/>
            </p:nvSpPr>
            <p:spPr>
              <a:xfrm>
                <a:off x="3749040" y="3251200"/>
                <a:ext cx="169817" cy="1228981"/>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מלבן מעוגל 7"/>
              <p:cNvSpPr/>
              <p:nvPr/>
            </p:nvSpPr>
            <p:spPr>
              <a:xfrm>
                <a:off x="5691110" y="3849188"/>
                <a:ext cx="433977" cy="630993"/>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מלבן מעוגל 8"/>
              <p:cNvSpPr/>
              <p:nvPr/>
            </p:nvSpPr>
            <p:spPr>
              <a:xfrm>
                <a:off x="3315063" y="3251200"/>
                <a:ext cx="433977" cy="1228981"/>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מלבן מעוגל 9"/>
              <p:cNvSpPr/>
              <p:nvPr/>
            </p:nvSpPr>
            <p:spPr>
              <a:xfrm>
                <a:off x="7330440" y="2935703"/>
                <a:ext cx="2423160" cy="1228981"/>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7274142" y="6470679"/>
              <a:ext cx="1242840" cy="369332"/>
            </a:xfrm>
            <a:prstGeom prst="rect">
              <a:avLst/>
            </a:prstGeom>
            <a:noFill/>
          </p:spPr>
          <p:txBody>
            <a:bodyPr wrap="none" rtlCol="0">
              <a:spAutoFit/>
            </a:bodyPr>
            <a:lstStyle/>
            <a:p>
              <a:r>
                <a:rPr lang="en-US" dirty="0" smtClean="0"/>
                <a:t>284 degree</a:t>
              </a:r>
              <a:endParaRPr lang="en-US" dirty="0"/>
            </a:p>
          </p:txBody>
        </p:sp>
        <p:sp>
          <p:nvSpPr>
            <p:cNvPr id="16" name="TextBox 15"/>
            <p:cNvSpPr txBox="1"/>
            <p:nvPr/>
          </p:nvSpPr>
          <p:spPr>
            <a:xfrm>
              <a:off x="2827383" y="6441821"/>
              <a:ext cx="1242840" cy="369332"/>
            </a:xfrm>
            <a:prstGeom prst="rect">
              <a:avLst/>
            </a:prstGeom>
            <a:noFill/>
          </p:spPr>
          <p:txBody>
            <a:bodyPr wrap="none" rtlCol="0">
              <a:spAutoFit/>
            </a:bodyPr>
            <a:lstStyle/>
            <a:p>
              <a:r>
                <a:rPr lang="en-US" dirty="0" smtClean="0"/>
                <a:t>284 degree</a:t>
              </a:r>
              <a:endParaRPr lang="en-US" dirty="0"/>
            </a:p>
          </p:txBody>
        </p:sp>
      </p:grpSp>
      <p:sp>
        <p:nvSpPr>
          <p:cNvPr id="13" name="מלבן 12"/>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4" name="מלבן 13">
            <a:hlinkClick r:id="rId5"/>
          </p:cNvPr>
          <p:cNvSpPr/>
          <p:nvPr/>
        </p:nvSpPr>
        <p:spPr>
          <a:xfrm>
            <a:off x="66692" y="426130"/>
            <a:ext cx="8499565" cy="307777"/>
          </a:xfrm>
          <a:prstGeom prst="rect">
            <a:avLst/>
          </a:prstGeom>
        </p:spPr>
        <p:txBody>
          <a:bodyPr wrap="square">
            <a:spAutoFit/>
          </a:bodyPr>
          <a:lstStyle/>
          <a:p>
            <a:pPr algn="l" rtl="0"/>
            <a:r>
              <a:rPr lang="en-US" sz="1400" dirty="0">
                <a:hlinkClick r:id="rId5"/>
              </a:rPr>
              <a:t>https://isramar.ocean.org.il/isramar2009/station/shikmonaBuoyM.aspx</a:t>
            </a:r>
            <a:endParaRPr lang="en-US" sz="1400" dirty="0"/>
          </a:p>
        </p:txBody>
      </p:sp>
      <p:sp>
        <p:nvSpPr>
          <p:cNvPr id="12" name="TextBox 11"/>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Page </a:t>
            </a:r>
            <a:r>
              <a:rPr lang="en-US" b="1" dirty="0" smtClean="0"/>
              <a:t>A</a:t>
            </a:r>
            <a:endParaRPr lang="en-US" b="1" dirty="0"/>
          </a:p>
        </p:txBody>
      </p:sp>
    </p:spTree>
    <p:extLst>
      <p:ext uri="{BB962C8B-B14F-4D97-AF65-F5344CB8AC3E}">
        <p14:creationId xmlns:p14="http://schemas.microsoft.com/office/powerpoint/2010/main" val="375227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קבוצה 11"/>
          <p:cNvGrpSpPr/>
          <p:nvPr/>
        </p:nvGrpSpPr>
        <p:grpSpPr>
          <a:xfrm>
            <a:off x="1010145" y="731519"/>
            <a:ext cx="10702883" cy="5511989"/>
            <a:chOff x="1010145" y="731519"/>
            <a:chExt cx="10702883" cy="5511989"/>
          </a:xfrm>
        </p:grpSpPr>
        <p:pic>
          <p:nvPicPr>
            <p:cNvPr id="7" name="תמונה 6"/>
            <p:cNvPicPr>
              <a:picLocks noChangeAspect="1"/>
            </p:cNvPicPr>
            <p:nvPr/>
          </p:nvPicPr>
          <p:blipFill rotWithShape="1">
            <a:blip r:embed="rId2"/>
            <a:srcRect t="3886"/>
            <a:stretch/>
          </p:blipFill>
          <p:spPr>
            <a:xfrm>
              <a:off x="1010145" y="731519"/>
              <a:ext cx="10450383" cy="5511989"/>
            </a:xfrm>
            <a:prstGeom prst="rect">
              <a:avLst/>
            </a:prstGeom>
          </p:spPr>
        </p:pic>
        <p:sp>
          <p:nvSpPr>
            <p:cNvPr id="8" name="מלבן מעוגל 7"/>
            <p:cNvSpPr/>
            <p:nvPr/>
          </p:nvSpPr>
          <p:spPr>
            <a:xfrm>
              <a:off x="7829009" y="3135086"/>
              <a:ext cx="2371690" cy="1123405"/>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מלבן מעוגל 9"/>
            <p:cNvSpPr/>
            <p:nvPr/>
          </p:nvSpPr>
          <p:spPr>
            <a:xfrm>
              <a:off x="4902926" y="2699657"/>
              <a:ext cx="1950720" cy="1471749"/>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8127582" y="5503817"/>
              <a:ext cx="1242840" cy="369332"/>
            </a:xfrm>
            <a:prstGeom prst="rect">
              <a:avLst/>
            </a:prstGeom>
            <a:noFill/>
          </p:spPr>
          <p:txBody>
            <a:bodyPr wrap="none" rtlCol="0">
              <a:spAutoFit/>
            </a:bodyPr>
            <a:lstStyle/>
            <a:p>
              <a:r>
                <a:rPr lang="en-US" dirty="0" smtClean="0"/>
                <a:t>284 degree</a:t>
              </a:r>
              <a:endParaRPr lang="en-US" dirty="0"/>
            </a:p>
          </p:txBody>
        </p:sp>
        <p:sp>
          <p:nvSpPr>
            <p:cNvPr id="13" name="TextBox 12"/>
            <p:cNvSpPr txBox="1"/>
            <p:nvPr/>
          </p:nvSpPr>
          <p:spPr>
            <a:xfrm>
              <a:off x="10354771" y="5503817"/>
              <a:ext cx="1358257" cy="369332"/>
            </a:xfrm>
            <a:prstGeom prst="rect">
              <a:avLst/>
            </a:prstGeom>
            <a:noFill/>
          </p:spPr>
          <p:txBody>
            <a:bodyPr wrap="none" rtlCol="0">
              <a:spAutoFit/>
            </a:bodyPr>
            <a:lstStyle/>
            <a:p>
              <a:r>
                <a:rPr lang="en-US" dirty="0" smtClean="0"/>
                <a:t>292+ degree</a:t>
              </a:r>
              <a:endParaRPr lang="en-US" dirty="0"/>
            </a:p>
          </p:txBody>
        </p:sp>
      </p:grpSp>
      <p:sp>
        <p:nvSpPr>
          <p:cNvPr id="15" name="מלבן מעוגל 14"/>
          <p:cNvSpPr/>
          <p:nvPr/>
        </p:nvSpPr>
        <p:spPr>
          <a:xfrm>
            <a:off x="6853646" y="2699657"/>
            <a:ext cx="975363" cy="147174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מלבן מעוגל 15"/>
          <p:cNvSpPr/>
          <p:nvPr/>
        </p:nvSpPr>
        <p:spPr>
          <a:xfrm>
            <a:off x="4572000" y="6041699"/>
            <a:ext cx="3622768" cy="64140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smtClean="0">
                <a:solidFill>
                  <a:schemeClr val="tx1"/>
                </a:solidFill>
              </a:rPr>
              <a:t>צהוב = גבולי – היה </a:t>
            </a:r>
            <a:r>
              <a:rPr lang="he-IL" dirty="0" err="1" smtClean="0">
                <a:solidFill>
                  <a:schemeClr val="tx1"/>
                </a:solidFill>
              </a:rPr>
              <a:t>גליש</a:t>
            </a:r>
            <a:r>
              <a:rPr lang="he-IL" dirty="0" smtClean="0">
                <a:solidFill>
                  <a:schemeClr val="tx1"/>
                </a:solidFill>
              </a:rPr>
              <a:t> רק בסטים הגבוהים שהגיעו אחת לרבע שעה</a:t>
            </a:r>
            <a:endParaRPr lang="en-US" dirty="0">
              <a:solidFill>
                <a:schemeClr val="tx1"/>
              </a:solidFill>
            </a:endParaRPr>
          </a:p>
        </p:txBody>
      </p:sp>
      <p:sp>
        <p:nvSpPr>
          <p:cNvPr id="14" name="מלבן 13"/>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7" name="TextBox 16"/>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Page </a:t>
            </a:r>
            <a:r>
              <a:rPr lang="en-US" b="1" dirty="0" smtClean="0"/>
              <a:t>B</a:t>
            </a:r>
            <a:endParaRPr lang="en-US" b="1" dirty="0"/>
          </a:p>
        </p:txBody>
      </p:sp>
    </p:spTree>
    <p:extLst>
      <p:ext uri="{BB962C8B-B14F-4D97-AF65-F5344CB8AC3E}">
        <p14:creationId xmlns:p14="http://schemas.microsoft.com/office/powerpoint/2010/main" val="241472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p:cNvPicPr>
            <a:picLocks noChangeAspect="1"/>
          </p:cNvPicPr>
          <p:nvPr/>
        </p:nvPicPr>
        <p:blipFill>
          <a:blip r:embed="rId2"/>
          <a:stretch>
            <a:fillRect/>
          </a:stretch>
        </p:blipFill>
        <p:spPr>
          <a:xfrm>
            <a:off x="1190625" y="614362"/>
            <a:ext cx="9810750" cy="5629275"/>
          </a:xfrm>
          <a:prstGeom prst="rect">
            <a:avLst/>
          </a:prstGeom>
        </p:spPr>
      </p:pic>
      <p:sp>
        <p:nvSpPr>
          <p:cNvPr id="15" name="מלבן מעוגל 14"/>
          <p:cNvSpPr/>
          <p:nvPr/>
        </p:nvSpPr>
        <p:spPr>
          <a:xfrm>
            <a:off x="6122127" y="2693124"/>
            <a:ext cx="1517376" cy="147174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מלבן מעוגל 15"/>
          <p:cNvSpPr/>
          <p:nvPr/>
        </p:nvSpPr>
        <p:spPr>
          <a:xfrm>
            <a:off x="4572000" y="6041699"/>
            <a:ext cx="3622768" cy="64140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smtClean="0">
                <a:solidFill>
                  <a:schemeClr val="tx1"/>
                </a:solidFill>
              </a:rPr>
              <a:t>צהוב = גבולי – היה </a:t>
            </a:r>
            <a:r>
              <a:rPr lang="he-IL" dirty="0" err="1" smtClean="0">
                <a:solidFill>
                  <a:schemeClr val="tx1"/>
                </a:solidFill>
              </a:rPr>
              <a:t>גליש</a:t>
            </a:r>
            <a:r>
              <a:rPr lang="he-IL" dirty="0" smtClean="0">
                <a:solidFill>
                  <a:schemeClr val="tx1"/>
                </a:solidFill>
              </a:rPr>
              <a:t> רק בסטים הגבוהים שהגיעו אחת לרבע שעה</a:t>
            </a:r>
            <a:endParaRPr lang="en-US" dirty="0">
              <a:solidFill>
                <a:schemeClr val="tx1"/>
              </a:solidFill>
            </a:endParaRPr>
          </a:p>
        </p:txBody>
      </p:sp>
      <p:sp>
        <p:nvSpPr>
          <p:cNvPr id="14" name="מלבן מעוגל 13"/>
          <p:cNvSpPr/>
          <p:nvPr/>
        </p:nvSpPr>
        <p:spPr>
          <a:xfrm>
            <a:off x="7639501" y="3080551"/>
            <a:ext cx="2741677" cy="1606859"/>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מלבן מעוגל 16"/>
          <p:cNvSpPr/>
          <p:nvPr/>
        </p:nvSpPr>
        <p:spPr>
          <a:xfrm>
            <a:off x="2908663" y="2344975"/>
            <a:ext cx="2682840" cy="1819898"/>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מלבן מעוגל 17"/>
          <p:cNvSpPr/>
          <p:nvPr/>
        </p:nvSpPr>
        <p:spPr>
          <a:xfrm>
            <a:off x="1976657" y="2412231"/>
            <a:ext cx="975363" cy="1924638"/>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070709" y="5417562"/>
            <a:ext cx="1664431" cy="369332"/>
          </a:xfrm>
          <a:prstGeom prst="rect">
            <a:avLst/>
          </a:prstGeom>
          <a:noFill/>
        </p:spPr>
        <p:txBody>
          <a:bodyPr wrap="none" rtlCol="0">
            <a:spAutoFit/>
          </a:bodyPr>
          <a:lstStyle/>
          <a:p>
            <a:r>
              <a:rPr lang="en-US" dirty="0" smtClean="0"/>
              <a:t>292-294 degree</a:t>
            </a:r>
            <a:endParaRPr lang="en-US" dirty="0"/>
          </a:p>
        </p:txBody>
      </p:sp>
      <p:sp>
        <p:nvSpPr>
          <p:cNvPr id="10" name="מלבן 9"/>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1" name="TextBox 10"/>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Page </a:t>
            </a:r>
            <a:r>
              <a:rPr lang="en-US" b="1" dirty="0" smtClean="0"/>
              <a:t>C</a:t>
            </a:r>
            <a:endParaRPr lang="en-US" b="1" dirty="0"/>
          </a:p>
        </p:txBody>
      </p:sp>
    </p:spTree>
    <p:extLst>
      <p:ext uri="{BB962C8B-B14F-4D97-AF65-F5344CB8AC3E}">
        <p14:creationId xmlns:p14="http://schemas.microsoft.com/office/powerpoint/2010/main" val="11517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598862" y="962651"/>
            <a:ext cx="9583487" cy="4667901"/>
          </a:xfrm>
          <a:prstGeom prst="rect">
            <a:avLst/>
          </a:prstGeom>
        </p:spPr>
      </p:pic>
      <p:sp>
        <p:nvSpPr>
          <p:cNvPr id="15" name="מלבן מעוגל 14"/>
          <p:cNvSpPr/>
          <p:nvPr/>
        </p:nvSpPr>
        <p:spPr>
          <a:xfrm>
            <a:off x="3971109" y="2885607"/>
            <a:ext cx="304009" cy="147174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מלבן מעוגל 15"/>
          <p:cNvSpPr/>
          <p:nvPr/>
        </p:nvSpPr>
        <p:spPr>
          <a:xfrm>
            <a:off x="4572000" y="6041699"/>
            <a:ext cx="3622768" cy="641409"/>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smtClean="0">
                <a:solidFill>
                  <a:schemeClr val="tx1"/>
                </a:solidFill>
              </a:rPr>
              <a:t>צהוב = גבולי – היה </a:t>
            </a:r>
            <a:r>
              <a:rPr lang="he-IL" dirty="0" err="1" smtClean="0">
                <a:solidFill>
                  <a:schemeClr val="tx1"/>
                </a:solidFill>
              </a:rPr>
              <a:t>גליש</a:t>
            </a:r>
            <a:r>
              <a:rPr lang="he-IL" dirty="0" smtClean="0">
                <a:solidFill>
                  <a:schemeClr val="tx1"/>
                </a:solidFill>
              </a:rPr>
              <a:t> רק בסטים הגבוהים שהגיעו אחת לרבע שעה</a:t>
            </a:r>
            <a:endParaRPr lang="en-US" dirty="0">
              <a:solidFill>
                <a:schemeClr val="tx1"/>
              </a:solidFill>
            </a:endParaRPr>
          </a:p>
        </p:txBody>
      </p:sp>
      <p:sp>
        <p:nvSpPr>
          <p:cNvPr id="14" name="מלבן מעוגל 13"/>
          <p:cNvSpPr/>
          <p:nvPr/>
        </p:nvSpPr>
        <p:spPr>
          <a:xfrm>
            <a:off x="4834327" y="3004458"/>
            <a:ext cx="4422885" cy="1665536"/>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מלבן מעוגל 16"/>
          <p:cNvSpPr/>
          <p:nvPr/>
        </p:nvSpPr>
        <p:spPr>
          <a:xfrm>
            <a:off x="3243395" y="2327558"/>
            <a:ext cx="501291" cy="1819898"/>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243395" y="5400145"/>
            <a:ext cx="1664431" cy="369332"/>
          </a:xfrm>
          <a:prstGeom prst="rect">
            <a:avLst/>
          </a:prstGeom>
          <a:noFill/>
        </p:spPr>
        <p:txBody>
          <a:bodyPr wrap="none" rtlCol="0">
            <a:spAutoFit/>
          </a:bodyPr>
          <a:lstStyle/>
          <a:p>
            <a:r>
              <a:rPr lang="en-US" dirty="0" smtClean="0"/>
              <a:t>292-294 degree</a:t>
            </a:r>
            <a:endParaRPr lang="en-US" dirty="0"/>
          </a:p>
        </p:txBody>
      </p:sp>
      <p:sp>
        <p:nvSpPr>
          <p:cNvPr id="10" name="מלבן 9"/>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1" name="TextBox 10"/>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Page </a:t>
            </a:r>
            <a:r>
              <a:rPr lang="en-US" b="1" dirty="0" smtClean="0"/>
              <a:t>D</a:t>
            </a:r>
            <a:endParaRPr lang="en-US" b="1" dirty="0"/>
          </a:p>
        </p:txBody>
      </p:sp>
      <p:sp>
        <p:nvSpPr>
          <p:cNvPr id="12" name="מלבן מעוגל 11"/>
          <p:cNvSpPr/>
          <p:nvPr/>
        </p:nvSpPr>
        <p:spPr>
          <a:xfrm>
            <a:off x="1933303" y="2327558"/>
            <a:ext cx="948165" cy="1819898"/>
          </a:xfrm>
          <a:prstGeom prst="roundRect">
            <a:avLst/>
          </a:prstGeom>
          <a:solidFill>
            <a:srgbClr val="0099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תמונה 3"/>
          <p:cNvPicPr>
            <a:picLocks noChangeAspect="1"/>
          </p:cNvPicPr>
          <p:nvPr/>
        </p:nvPicPr>
        <p:blipFill rotWithShape="1">
          <a:blip r:embed="rId3"/>
          <a:srcRect l="77197"/>
          <a:stretch/>
        </p:blipFill>
        <p:spPr>
          <a:xfrm>
            <a:off x="9649999" y="983713"/>
            <a:ext cx="2183118" cy="4525006"/>
          </a:xfrm>
          <a:prstGeom prst="rect">
            <a:avLst/>
          </a:prstGeom>
        </p:spPr>
      </p:pic>
      <p:sp>
        <p:nvSpPr>
          <p:cNvPr id="20" name="מלבן מעוגל 19"/>
          <p:cNvSpPr/>
          <p:nvPr/>
        </p:nvSpPr>
        <p:spPr>
          <a:xfrm>
            <a:off x="10741559" y="2885607"/>
            <a:ext cx="530432" cy="1573182"/>
          </a:xfrm>
          <a:prstGeom prst="roundRect">
            <a:avLst/>
          </a:prstGeom>
          <a:solidFill>
            <a:srgbClr val="FFFF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4357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p:cNvPicPr>
            <a:picLocks noChangeAspect="1"/>
          </p:cNvPicPr>
          <p:nvPr/>
        </p:nvPicPr>
        <p:blipFill>
          <a:blip r:embed="rId2"/>
          <a:stretch>
            <a:fillRect/>
          </a:stretch>
        </p:blipFill>
        <p:spPr>
          <a:xfrm>
            <a:off x="1280440" y="490127"/>
            <a:ext cx="9631119" cy="5877745"/>
          </a:xfrm>
          <a:prstGeom prst="rect">
            <a:avLst/>
          </a:prstGeom>
        </p:spPr>
      </p:pic>
      <p:sp>
        <p:nvSpPr>
          <p:cNvPr id="16" name="מלבן מעוגל 15"/>
          <p:cNvSpPr/>
          <p:nvPr/>
        </p:nvSpPr>
        <p:spPr>
          <a:xfrm>
            <a:off x="4511040" y="5844690"/>
            <a:ext cx="4005945" cy="1013310"/>
          </a:xfrm>
          <a:prstGeom prst="roundRect">
            <a:avLst/>
          </a:prstGeom>
          <a:solidFill>
            <a:srgbClr val="FFC0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smtClean="0">
                <a:solidFill>
                  <a:schemeClr val="tx1"/>
                </a:solidFill>
              </a:rPr>
              <a:t>כתום = גבול עליון של אדום. לא היה </a:t>
            </a:r>
            <a:r>
              <a:rPr lang="he-IL" dirty="0" err="1" smtClean="0">
                <a:solidFill>
                  <a:schemeClr val="tx1"/>
                </a:solidFill>
              </a:rPr>
              <a:t>גליש</a:t>
            </a:r>
            <a:r>
              <a:rPr lang="he-IL" dirty="0" smtClean="0">
                <a:solidFill>
                  <a:schemeClr val="tx1"/>
                </a:solidFill>
              </a:rPr>
              <a:t> אבל ממש עוד קצת, או גל בצורה מושלמת בסטים של פעם ברבע שעה היה יכול להיות </a:t>
            </a:r>
            <a:r>
              <a:rPr lang="he-IL" dirty="0" err="1" smtClean="0">
                <a:solidFill>
                  <a:schemeClr val="tx1"/>
                </a:solidFill>
              </a:rPr>
              <a:t>גליש</a:t>
            </a:r>
            <a:endParaRPr lang="en-US" dirty="0">
              <a:solidFill>
                <a:schemeClr val="tx1"/>
              </a:solidFill>
            </a:endParaRPr>
          </a:p>
        </p:txBody>
      </p:sp>
      <p:sp>
        <p:nvSpPr>
          <p:cNvPr id="14" name="מלבן מעוגל 13"/>
          <p:cNvSpPr/>
          <p:nvPr/>
        </p:nvSpPr>
        <p:spPr>
          <a:xfrm>
            <a:off x="8874033" y="2815766"/>
            <a:ext cx="357333"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3744686" y="5357131"/>
            <a:ext cx="1340623" cy="369332"/>
          </a:xfrm>
          <a:prstGeom prst="rect">
            <a:avLst/>
          </a:prstGeom>
          <a:noFill/>
        </p:spPr>
        <p:txBody>
          <a:bodyPr wrap="none" rtlCol="0">
            <a:spAutoFit/>
          </a:bodyPr>
          <a:lstStyle/>
          <a:p>
            <a:r>
              <a:rPr lang="he-IL" dirty="0" smtClean="0"/>
              <a:t>284 </a:t>
            </a:r>
            <a:r>
              <a:rPr lang="en-US" dirty="0" smtClean="0"/>
              <a:t> degree</a:t>
            </a:r>
            <a:endParaRPr lang="en-US" dirty="0"/>
          </a:p>
        </p:txBody>
      </p:sp>
      <p:sp>
        <p:nvSpPr>
          <p:cNvPr id="10" name="מלבן 9"/>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1" name="TextBox 10"/>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Page </a:t>
            </a:r>
            <a:r>
              <a:rPr lang="en-US" b="1" dirty="0" smtClean="0"/>
              <a:t>E</a:t>
            </a:r>
            <a:endParaRPr lang="en-US" b="1" dirty="0"/>
          </a:p>
        </p:txBody>
      </p:sp>
      <p:sp>
        <p:nvSpPr>
          <p:cNvPr id="18" name="TextBox 17"/>
          <p:cNvSpPr txBox="1"/>
          <p:nvPr/>
        </p:nvSpPr>
        <p:spPr>
          <a:xfrm>
            <a:off x="10241106" y="5479050"/>
            <a:ext cx="1986634" cy="369332"/>
          </a:xfrm>
          <a:prstGeom prst="rect">
            <a:avLst/>
          </a:prstGeom>
          <a:noFill/>
        </p:spPr>
        <p:txBody>
          <a:bodyPr wrap="none" rtlCol="0">
            <a:spAutoFit/>
          </a:bodyPr>
          <a:lstStyle/>
          <a:p>
            <a:pPr algn="l" rtl="0"/>
            <a:r>
              <a:rPr lang="en-US" dirty="0" smtClean="0"/>
              <a:t>14:30: </a:t>
            </a:r>
            <a:r>
              <a:rPr lang="he-IL" dirty="0" smtClean="0"/>
              <a:t>300</a:t>
            </a:r>
            <a:r>
              <a:rPr lang="en-US" dirty="0" smtClean="0"/>
              <a:t> </a:t>
            </a:r>
            <a:r>
              <a:rPr lang="he-IL" dirty="0" smtClean="0"/>
              <a:t> </a:t>
            </a:r>
            <a:r>
              <a:rPr lang="en-US" dirty="0" smtClean="0"/>
              <a:t>degree</a:t>
            </a:r>
            <a:endParaRPr lang="en-US" dirty="0"/>
          </a:p>
        </p:txBody>
      </p:sp>
      <p:sp>
        <p:nvSpPr>
          <p:cNvPr id="21" name="מלבן מעוגל 20"/>
          <p:cNvSpPr/>
          <p:nvPr/>
        </p:nvSpPr>
        <p:spPr>
          <a:xfrm>
            <a:off x="9649097" y="3004458"/>
            <a:ext cx="755492"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מלבן מעוגל 21"/>
          <p:cNvSpPr/>
          <p:nvPr/>
        </p:nvSpPr>
        <p:spPr>
          <a:xfrm>
            <a:off x="8159652" y="2815766"/>
            <a:ext cx="357333"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מלבן מעוגל 22"/>
          <p:cNvSpPr/>
          <p:nvPr/>
        </p:nvSpPr>
        <p:spPr>
          <a:xfrm>
            <a:off x="6843471" y="2815766"/>
            <a:ext cx="571459"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מלבן מעוגל 23"/>
          <p:cNvSpPr/>
          <p:nvPr/>
        </p:nvSpPr>
        <p:spPr>
          <a:xfrm>
            <a:off x="5163278" y="2754806"/>
            <a:ext cx="399752"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מלבן מעוגל 24"/>
          <p:cNvSpPr/>
          <p:nvPr/>
        </p:nvSpPr>
        <p:spPr>
          <a:xfrm>
            <a:off x="4406478" y="2754806"/>
            <a:ext cx="399752"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664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תמונה 1"/>
          <p:cNvPicPr>
            <a:picLocks noChangeAspect="1"/>
          </p:cNvPicPr>
          <p:nvPr/>
        </p:nvPicPr>
        <p:blipFill>
          <a:blip r:embed="rId2"/>
          <a:stretch>
            <a:fillRect/>
          </a:stretch>
        </p:blipFill>
        <p:spPr>
          <a:xfrm>
            <a:off x="1454009" y="585502"/>
            <a:ext cx="9617099" cy="5477975"/>
          </a:xfrm>
          <a:prstGeom prst="rect">
            <a:avLst/>
          </a:prstGeom>
        </p:spPr>
      </p:pic>
      <p:sp>
        <p:nvSpPr>
          <p:cNvPr id="16" name="מלבן מעוגל 15"/>
          <p:cNvSpPr/>
          <p:nvPr/>
        </p:nvSpPr>
        <p:spPr>
          <a:xfrm>
            <a:off x="4511040" y="5844690"/>
            <a:ext cx="4005945" cy="1013310"/>
          </a:xfrm>
          <a:prstGeom prst="roundRect">
            <a:avLst/>
          </a:prstGeom>
          <a:solidFill>
            <a:srgbClr val="FFC000">
              <a:alpha val="32941"/>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he-IL" dirty="0" smtClean="0">
                <a:solidFill>
                  <a:schemeClr val="tx1"/>
                </a:solidFill>
              </a:rPr>
              <a:t>כתום = גבול עליון של אדום. לא היה </a:t>
            </a:r>
            <a:r>
              <a:rPr lang="he-IL" dirty="0" err="1" smtClean="0">
                <a:solidFill>
                  <a:schemeClr val="tx1"/>
                </a:solidFill>
              </a:rPr>
              <a:t>גליש</a:t>
            </a:r>
            <a:r>
              <a:rPr lang="he-IL" dirty="0" smtClean="0">
                <a:solidFill>
                  <a:schemeClr val="tx1"/>
                </a:solidFill>
              </a:rPr>
              <a:t> אבל ממש עוד קצת, או גל בצורה מושלמת בסטים של פעם ברבע שעה היה יכול להיות </a:t>
            </a:r>
            <a:r>
              <a:rPr lang="he-IL" dirty="0" err="1" smtClean="0">
                <a:solidFill>
                  <a:schemeClr val="tx1"/>
                </a:solidFill>
              </a:rPr>
              <a:t>גליש</a:t>
            </a:r>
            <a:endParaRPr lang="en-US" dirty="0">
              <a:solidFill>
                <a:schemeClr val="tx1"/>
              </a:solidFill>
            </a:endParaRPr>
          </a:p>
        </p:txBody>
      </p:sp>
      <p:sp>
        <p:nvSpPr>
          <p:cNvPr id="10" name="מלבן 9"/>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Sea level measures – For minimum ‘</a:t>
            </a:r>
            <a:r>
              <a:rPr lang="en-US" sz="2000" b="1" dirty="0" err="1" smtClean="0">
                <a:latin typeface="Aharoni" panose="02010803020104030203" pitchFamily="2" charset="-79"/>
                <a:cs typeface="Aharoni" panose="02010803020104030203" pitchFamily="2" charset="-79"/>
              </a:rPr>
              <a:t>Surfable</a:t>
            </a:r>
            <a:r>
              <a:rPr lang="en-US" sz="2000" b="1" dirty="0" smtClean="0">
                <a:latin typeface="Aharoni" panose="02010803020104030203" pitchFamily="2" charset="-79"/>
                <a:cs typeface="Aharoni" panose="02010803020104030203" pitchFamily="2" charset="-79"/>
              </a:rPr>
              <a:t>’ waves</a:t>
            </a:r>
            <a:endParaRPr lang="en-US" sz="2000" dirty="0">
              <a:latin typeface="Aharoni" panose="02010803020104030203" pitchFamily="2" charset="-79"/>
              <a:cs typeface="Aharoni" panose="02010803020104030203" pitchFamily="2" charset="-79"/>
            </a:endParaRPr>
          </a:p>
        </p:txBody>
      </p:sp>
      <p:sp>
        <p:nvSpPr>
          <p:cNvPr id="11" name="TextBox 10"/>
          <p:cNvSpPr txBox="1"/>
          <p:nvPr/>
        </p:nvSpPr>
        <p:spPr>
          <a:xfrm>
            <a:off x="10404588" y="400836"/>
            <a:ext cx="1787412" cy="369332"/>
          </a:xfrm>
          <a:prstGeom prst="rect">
            <a:avLst/>
          </a:prstGeom>
          <a:solidFill>
            <a:schemeClr val="accent1">
              <a:lumMod val="20000"/>
              <a:lumOff val="80000"/>
            </a:schemeClr>
          </a:solidFill>
        </p:spPr>
        <p:txBody>
          <a:bodyPr wrap="none" rtlCol="0">
            <a:spAutoFit/>
          </a:bodyPr>
          <a:lstStyle/>
          <a:p>
            <a:pPr algn="l" rtl="0"/>
            <a:r>
              <a:rPr lang="en-US" dirty="0" smtClean="0"/>
              <a:t>Measures </a:t>
            </a:r>
            <a:r>
              <a:rPr lang="en-US" smtClean="0"/>
              <a:t>Page </a:t>
            </a:r>
            <a:r>
              <a:rPr lang="en-US" b="1" smtClean="0"/>
              <a:t>F</a:t>
            </a:r>
            <a:endParaRPr lang="en-US" b="1" dirty="0"/>
          </a:p>
        </p:txBody>
      </p:sp>
      <p:sp>
        <p:nvSpPr>
          <p:cNvPr id="15" name="מלבן מעוגל 14"/>
          <p:cNvSpPr/>
          <p:nvPr/>
        </p:nvSpPr>
        <p:spPr>
          <a:xfrm>
            <a:off x="2159726" y="2830286"/>
            <a:ext cx="1243172" cy="1665536"/>
          </a:xfrm>
          <a:prstGeom prst="roundRect">
            <a:avLst/>
          </a:prstGeom>
          <a:solidFill>
            <a:srgbClr val="FFC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מלבן מעוגל 16"/>
          <p:cNvSpPr/>
          <p:nvPr/>
        </p:nvSpPr>
        <p:spPr>
          <a:xfrm>
            <a:off x="7659725" y="2899955"/>
            <a:ext cx="1458149" cy="1665536"/>
          </a:xfrm>
          <a:prstGeom prst="roundRect">
            <a:avLst/>
          </a:prstGeom>
          <a:solidFill>
            <a:srgbClr val="FF0000">
              <a:alpha val="32549"/>
            </a:srgb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1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2" descr="Free rocks clipart, Download Free rocks clipart png images, Free ClipArts  on Clipart Library"/>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0000" b="90000" l="10000" r="9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rot="12923414" flipH="1">
            <a:off x="3887533" y="4877800"/>
            <a:ext cx="662361" cy="43605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Free rocks clipart, Download Free rocks clipart png images, Free ClipArts  on Clipart Library"/>
          <p:cNvPicPr>
            <a:picLocks noChangeAspect="1" noChangeArrowheads="1"/>
          </p:cNvPicPr>
          <p:nvPr/>
        </p:nvPicPr>
        <p:blipFill>
          <a:blip r:embed="rId4" cstate="print">
            <a:extLst>
              <a:ext uri="{BEBA8EAE-BF5A-486C-A8C5-ECC9F3942E4B}">
                <a14:imgProps xmlns:a14="http://schemas.microsoft.com/office/drawing/2010/main">
                  <a14:imgLayer r:embed="rId3">
                    <a14:imgEffect>
                      <a14:backgroundRemoval t="10000" b="90000" l="10000" r="90000"/>
                    </a14:imgEffect>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rot="21433156">
            <a:off x="4032918" y="4766607"/>
            <a:ext cx="662361" cy="43605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Free rocks clipart, Download Free rocks clipart png images, Free ClipArts  on Clipart Library"/>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000" b="90000" l="10000" r="9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flipH="1">
            <a:off x="4630759" y="4856706"/>
            <a:ext cx="726444" cy="478242"/>
          </a:xfrm>
          <a:prstGeom prst="rect">
            <a:avLst/>
          </a:prstGeom>
          <a:noFill/>
          <a:extLst>
            <a:ext uri="{909E8E84-426E-40DD-AFC4-6F175D3DCCD1}">
              <a14:hiddenFill xmlns:a14="http://schemas.microsoft.com/office/drawing/2010/main">
                <a:solidFill>
                  <a:srgbClr val="FFFFFF"/>
                </a:solidFill>
              </a14:hiddenFill>
            </a:ext>
          </a:extLst>
        </p:spPr>
      </p:pic>
      <p:sp>
        <p:nvSpPr>
          <p:cNvPr id="10" name="מלבן 9"/>
          <p:cNvSpPr/>
          <p:nvPr/>
        </p:nvSpPr>
        <p:spPr>
          <a:xfrm>
            <a:off x="0" y="3894"/>
            <a:ext cx="12192000" cy="400110"/>
          </a:xfrm>
          <a:prstGeom prst="rect">
            <a:avLst/>
          </a:prstGeom>
          <a:solidFill>
            <a:schemeClr val="accent1">
              <a:lumMod val="20000"/>
              <a:lumOff val="80000"/>
            </a:schemeClr>
          </a:solidFill>
        </p:spPr>
        <p:txBody>
          <a:bodyPr wrap="square">
            <a:spAutoFit/>
          </a:bodyPr>
          <a:lstStyle/>
          <a:p>
            <a:pPr algn="ctr" rtl="0"/>
            <a:r>
              <a:rPr lang="en-US" sz="2000" b="1" dirty="0" smtClean="0">
                <a:latin typeface="Aharoni" panose="02010803020104030203" pitchFamily="2" charset="-79"/>
                <a:cs typeface="Aharoni" panose="02010803020104030203" pitchFamily="2" charset="-79"/>
              </a:rPr>
              <a:t>Temporary Construction</a:t>
            </a:r>
            <a:endParaRPr lang="en-US" sz="2000" dirty="0">
              <a:latin typeface="Aharoni" panose="02010803020104030203" pitchFamily="2" charset="-79"/>
              <a:cs typeface="Aharoni" panose="02010803020104030203" pitchFamily="2" charset="-79"/>
            </a:endParaRPr>
          </a:p>
        </p:txBody>
      </p:sp>
      <p:sp>
        <p:nvSpPr>
          <p:cNvPr id="12" name="מלבן 11"/>
          <p:cNvSpPr/>
          <p:nvPr/>
        </p:nvSpPr>
        <p:spPr>
          <a:xfrm>
            <a:off x="849710" y="5454180"/>
            <a:ext cx="6939665" cy="824447"/>
          </a:xfrm>
          <a:prstGeom prst="rect">
            <a:avLst/>
          </a:prstGeom>
          <a:blipFill>
            <a:blip r:embed="rId7"/>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Ocean Floor</a:t>
            </a:r>
            <a:endParaRPr lang="en-US" dirty="0">
              <a:solidFill>
                <a:schemeClr val="tx1"/>
              </a:solidFill>
            </a:endParaRPr>
          </a:p>
        </p:txBody>
      </p:sp>
      <p:sp>
        <p:nvSpPr>
          <p:cNvPr id="13" name="מלבן 12"/>
          <p:cNvSpPr/>
          <p:nvPr/>
        </p:nvSpPr>
        <p:spPr>
          <a:xfrm>
            <a:off x="849710" y="3764275"/>
            <a:ext cx="2289859" cy="168990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Min Depth</a:t>
            </a:r>
            <a:endParaRPr lang="en-US" dirty="0"/>
          </a:p>
        </p:txBody>
      </p:sp>
      <p:sp>
        <p:nvSpPr>
          <p:cNvPr id="20" name="מלבן 19"/>
          <p:cNvSpPr/>
          <p:nvPr/>
        </p:nvSpPr>
        <p:spPr>
          <a:xfrm>
            <a:off x="849709" y="3280784"/>
            <a:ext cx="2289859" cy="4834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Wave Breaking Depth</a:t>
            </a:r>
            <a:endParaRPr lang="en-US" dirty="0"/>
          </a:p>
        </p:txBody>
      </p:sp>
      <p:sp>
        <p:nvSpPr>
          <p:cNvPr id="21" name="מלבן 20"/>
          <p:cNvSpPr/>
          <p:nvPr/>
        </p:nvSpPr>
        <p:spPr>
          <a:xfrm>
            <a:off x="849709" y="2030787"/>
            <a:ext cx="2289859" cy="129364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 Breaking</a:t>
            </a:r>
            <a:endParaRPr lang="en-US" dirty="0"/>
          </a:p>
        </p:txBody>
      </p:sp>
      <p:sp>
        <p:nvSpPr>
          <p:cNvPr id="2" name="מלבן מעוגל 1"/>
          <p:cNvSpPr/>
          <p:nvPr/>
        </p:nvSpPr>
        <p:spPr>
          <a:xfrm>
            <a:off x="4540105" y="4233271"/>
            <a:ext cx="2395960" cy="17362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מלבן מעוגל 21"/>
          <p:cNvSpPr/>
          <p:nvPr/>
        </p:nvSpPr>
        <p:spPr>
          <a:xfrm>
            <a:off x="4007670" y="5293874"/>
            <a:ext cx="1157468" cy="160306"/>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מלבן מעוגל 22"/>
          <p:cNvSpPr/>
          <p:nvPr/>
        </p:nvSpPr>
        <p:spPr>
          <a:xfrm>
            <a:off x="6357331" y="5293874"/>
            <a:ext cx="1157468" cy="160306"/>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מלבן מעוגל 23"/>
          <p:cNvSpPr/>
          <p:nvPr/>
        </p:nvSpPr>
        <p:spPr>
          <a:xfrm rot="16200000">
            <a:off x="6408362" y="4685146"/>
            <a:ext cx="1067853" cy="172752"/>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מלבן מעוגל 24"/>
          <p:cNvSpPr/>
          <p:nvPr/>
        </p:nvSpPr>
        <p:spPr>
          <a:xfrm rot="16200000">
            <a:off x="4092555" y="4685146"/>
            <a:ext cx="1067853" cy="172752"/>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מלבן מעוגל 25"/>
          <p:cNvSpPr/>
          <p:nvPr/>
        </p:nvSpPr>
        <p:spPr>
          <a:xfrm rot="16200000">
            <a:off x="4803421" y="4569581"/>
            <a:ext cx="567949" cy="7929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מלבן מעוגל 26"/>
          <p:cNvSpPr/>
          <p:nvPr/>
        </p:nvSpPr>
        <p:spPr>
          <a:xfrm rot="16200000">
            <a:off x="5171830" y="4569580"/>
            <a:ext cx="567949" cy="7929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8" name="מלבן מעוגל 27"/>
          <p:cNvSpPr/>
          <p:nvPr/>
        </p:nvSpPr>
        <p:spPr>
          <a:xfrm rot="16200000">
            <a:off x="5586013" y="4569579"/>
            <a:ext cx="567949" cy="7929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מלבן מעוגל 28"/>
          <p:cNvSpPr/>
          <p:nvPr/>
        </p:nvSpPr>
        <p:spPr>
          <a:xfrm rot="16200000">
            <a:off x="5914777" y="4569578"/>
            <a:ext cx="567949" cy="7929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מלבן מעוגל 29"/>
          <p:cNvSpPr/>
          <p:nvPr/>
        </p:nvSpPr>
        <p:spPr>
          <a:xfrm rot="16200000">
            <a:off x="6243174" y="4566095"/>
            <a:ext cx="567949" cy="79290"/>
          </a:xfrm>
          <a:prstGeom prst="roundRect">
            <a:avLst/>
          </a:prstGeom>
          <a:solidFill>
            <a:schemeClr val="bg1">
              <a:lumMod val="6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050" name="Picture 2" descr="Free rocks clipart, Download Free rocks clipart png images, Free ClipArts  on Clipart Librar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582070">
            <a:off x="3935094" y="4921608"/>
            <a:ext cx="662361" cy="43605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Free rocks clipart, Download Free rocks clipart png images, Free ClipArts  on Clipart Librar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12858" y="4981799"/>
            <a:ext cx="522486" cy="34397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Free rocks clipart, Download Free rocks clipart png images, Free ClipArts  on Clipart Library"/>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000" b="90000" l="10000" r="90000"/>
                    </a14:imgEffect>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6338280" y="4933543"/>
            <a:ext cx="609732" cy="40140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Free rocks clipart, Download Free rocks clipart png images, Free ClipArts  on Clipart Library"/>
          <p:cNvPicPr>
            <a:picLocks noChangeAspect="1" noChangeArrowheads="1"/>
          </p:cNvPicPr>
          <p:nvPr/>
        </p:nvPicPr>
        <p:blipFill>
          <a:blip r:embed="rId11" cstate="print">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rot="8676586">
            <a:off x="6960118" y="4789123"/>
            <a:ext cx="662361" cy="43605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Free rocks clipart, Download Free rocks clipart png images, Free ClipArts  on Clipart Library"/>
          <p:cNvPicPr>
            <a:picLocks noChangeAspect="1" noChangeArrowheads="1"/>
          </p:cNvPicPr>
          <p:nvPr/>
        </p:nvPicPr>
        <p:blipFill>
          <a:blip r:embed="rId12" cstate="print">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rot="166844" flipH="1">
            <a:off x="6997330" y="4904598"/>
            <a:ext cx="662361" cy="4360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Free rocks clipart, Download Free rocks clipart png images, Free ClipArts  on Clipart Librar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21017930" flipH="1">
            <a:off x="7099799" y="5036681"/>
            <a:ext cx="662361" cy="436054"/>
          </a:xfrm>
          <a:prstGeom prst="rect">
            <a:avLst/>
          </a:prstGeom>
          <a:noFill/>
          <a:extLst>
            <a:ext uri="{909E8E84-426E-40DD-AFC4-6F175D3DCCD1}">
              <a14:hiddenFill xmlns:a14="http://schemas.microsoft.com/office/drawing/2010/main">
                <a:solidFill>
                  <a:srgbClr val="FFFFFF"/>
                </a:solidFill>
              </a14:hiddenFill>
            </a:ext>
          </a:extLst>
        </p:spPr>
      </p:pic>
      <p:sp>
        <p:nvSpPr>
          <p:cNvPr id="40" name="מלבן 39"/>
          <p:cNvSpPr/>
          <p:nvPr/>
        </p:nvSpPr>
        <p:spPr>
          <a:xfrm>
            <a:off x="4646457" y="2543779"/>
            <a:ext cx="2289859" cy="168990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Min Depth</a:t>
            </a:r>
            <a:endParaRPr lang="en-US" dirty="0"/>
          </a:p>
        </p:txBody>
      </p:sp>
      <p:sp>
        <p:nvSpPr>
          <p:cNvPr id="41" name="מלבן 40"/>
          <p:cNvSpPr/>
          <p:nvPr/>
        </p:nvSpPr>
        <p:spPr>
          <a:xfrm>
            <a:off x="4646456" y="2060288"/>
            <a:ext cx="2289859" cy="48349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Wave Breaking Depth</a:t>
            </a:r>
            <a:endParaRPr lang="en-US" dirty="0"/>
          </a:p>
        </p:txBody>
      </p:sp>
      <p:sp>
        <p:nvSpPr>
          <p:cNvPr id="42" name="מלבן 41"/>
          <p:cNvSpPr/>
          <p:nvPr/>
        </p:nvSpPr>
        <p:spPr>
          <a:xfrm>
            <a:off x="4646456" y="2030787"/>
            <a:ext cx="2289859" cy="731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מלבן 42"/>
          <p:cNvSpPr/>
          <p:nvPr/>
        </p:nvSpPr>
        <p:spPr>
          <a:xfrm>
            <a:off x="3481838" y="6336167"/>
            <a:ext cx="1451103" cy="400110"/>
          </a:xfrm>
          <a:prstGeom prst="rect">
            <a:avLst/>
          </a:prstGeom>
        </p:spPr>
        <p:txBody>
          <a:bodyPr wrap="none">
            <a:spAutoFit/>
          </a:bodyPr>
          <a:lstStyle/>
          <a:p>
            <a:pPr algn="l" rtl="0"/>
            <a:r>
              <a:rPr lang="en-US" sz="2000" b="1" dirty="0" smtClean="0">
                <a:solidFill>
                  <a:schemeClr val="bg2">
                    <a:lumMod val="75000"/>
                  </a:schemeClr>
                </a:solidFill>
              </a:rPr>
              <a:t>‘Front’ view</a:t>
            </a:r>
            <a:endParaRPr lang="en-US" sz="2000" b="1" dirty="0">
              <a:solidFill>
                <a:schemeClr val="bg2">
                  <a:lumMod val="75000"/>
                </a:schemeClr>
              </a:solidFill>
            </a:endParaRPr>
          </a:p>
        </p:txBody>
      </p:sp>
      <p:pic>
        <p:nvPicPr>
          <p:cNvPr id="44" name="Picture 2" descr="Free rocks clipart, Download Free rocks clipart png images, Free ClipArts  on Clipart Library"/>
          <p:cNvPicPr>
            <a:picLocks noChangeAspect="1" noChangeArrowheads="1"/>
          </p:cNvPicPr>
          <p:nvPr/>
        </p:nvPicPr>
        <p:blipFill>
          <a:blip r:embed="rId2" cstate="print">
            <a:grayscl/>
            <a:extLst>
              <a:ext uri="{BEBA8EAE-BF5A-486C-A8C5-ECC9F3942E4B}">
                <a14:imgProps xmlns:a14="http://schemas.microsoft.com/office/drawing/2010/main">
                  <a14:imgLayer r:embed="rId3">
                    <a14:imgEffect>
                      <a14:backgroundRemoval t="10000" b="90000" l="10000" r="9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rot="20403055" flipH="1">
            <a:off x="6034193" y="5036681"/>
            <a:ext cx="662361" cy="436054"/>
          </a:xfrm>
          <a:prstGeom prst="rect">
            <a:avLst/>
          </a:prstGeom>
          <a:noFill/>
          <a:extLst>
            <a:ext uri="{909E8E84-426E-40DD-AFC4-6F175D3DCCD1}">
              <a14:hiddenFill xmlns:a14="http://schemas.microsoft.com/office/drawing/2010/main">
                <a:solidFill>
                  <a:srgbClr val="FFFFFF"/>
                </a:solidFill>
              </a14:hiddenFill>
            </a:ext>
          </a:extLst>
        </p:spPr>
      </p:pic>
      <p:sp>
        <p:nvSpPr>
          <p:cNvPr id="6" name="מלבן 5"/>
          <p:cNvSpPr/>
          <p:nvPr/>
        </p:nvSpPr>
        <p:spPr>
          <a:xfrm>
            <a:off x="8367245" y="4012132"/>
            <a:ext cx="3414870" cy="1477328"/>
          </a:xfrm>
          <a:prstGeom prst="rect">
            <a:avLst/>
          </a:prstGeom>
        </p:spPr>
        <p:txBody>
          <a:bodyPr wrap="square">
            <a:spAutoFit/>
          </a:bodyPr>
          <a:lstStyle/>
          <a:p>
            <a:pPr algn="l" rtl="0"/>
            <a:r>
              <a:rPr lang="en-US" b="1" u="sng" dirty="0" smtClean="0"/>
              <a:t>Light Construction</a:t>
            </a:r>
          </a:p>
          <a:p>
            <a:pPr algn="l" rtl="0"/>
            <a:r>
              <a:rPr lang="en-US" b="1" dirty="0" smtClean="0"/>
              <a:t>Uses cheap &amp; light materials alongside ocean rocks for stability to ensure fast deployment and removal.</a:t>
            </a:r>
            <a:endParaRPr lang="en-US" dirty="0"/>
          </a:p>
        </p:txBody>
      </p:sp>
    </p:spTree>
    <p:extLst>
      <p:ext uri="{BB962C8B-B14F-4D97-AF65-F5344CB8AC3E}">
        <p14:creationId xmlns:p14="http://schemas.microsoft.com/office/powerpoint/2010/main" val="4038447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p:cNvPicPr>
            <a:picLocks noChangeAspect="1"/>
          </p:cNvPicPr>
          <p:nvPr/>
        </p:nvPicPr>
        <p:blipFill>
          <a:blip r:embed="rId2"/>
          <a:stretch>
            <a:fillRect/>
          </a:stretch>
        </p:blipFill>
        <p:spPr>
          <a:xfrm>
            <a:off x="149742" y="1349052"/>
            <a:ext cx="6687483" cy="4448796"/>
          </a:xfrm>
          <a:prstGeom prst="rect">
            <a:avLst/>
          </a:prstGeom>
        </p:spPr>
      </p:pic>
      <p:sp>
        <p:nvSpPr>
          <p:cNvPr id="2" name="כותרת 1"/>
          <p:cNvSpPr>
            <a:spLocks noGrp="1"/>
          </p:cNvSpPr>
          <p:nvPr>
            <p:ph type="title"/>
          </p:nvPr>
        </p:nvSpPr>
        <p:spPr/>
        <p:txBody>
          <a:bodyPr/>
          <a:lstStyle/>
          <a:p>
            <a:endParaRPr lang="en-US"/>
          </a:p>
        </p:txBody>
      </p:sp>
      <p:sp>
        <p:nvSpPr>
          <p:cNvPr id="3" name="מציין מיקום תוכן 2"/>
          <p:cNvSpPr>
            <a:spLocks noGrp="1"/>
          </p:cNvSpPr>
          <p:nvPr>
            <p:ph idx="1"/>
          </p:nvPr>
        </p:nvSpPr>
        <p:spPr/>
        <p:txBody>
          <a:bodyPr/>
          <a:lstStyle/>
          <a:p>
            <a:endParaRPr lang="en-US"/>
          </a:p>
        </p:txBody>
      </p:sp>
      <p:pic>
        <p:nvPicPr>
          <p:cNvPr id="4" name="תמונה 3"/>
          <p:cNvPicPr>
            <a:picLocks noChangeAspect="1"/>
          </p:cNvPicPr>
          <p:nvPr/>
        </p:nvPicPr>
        <p:blipFill>
          <a:blip r:embed="rId3"/>
          <a:stretch>
            <a:fillRect/>
          </a:stretch>
        </p:blipFill>
        <p:spPr>
          <a:xfrm>
            <a:off x="5452110" y="1919287"/>
            <a:ext cx="6286500" cy="3019425"/>
          </a:xfrm>
          <a:prstGeom prst="rect">
            <a:avLst/>
          </a:prstGeom>
        </p:spPr>
      </p:pic>
      <p:pic>
        <p:nvPicPr>
          <p:cNvPr id="5" name="תמונה 4"/>
          <p:cNvPicPr>
            <a:picLocks noChangeAspect="1"/>
          </p:cNvPicPr>
          <p:nvPr/>
        </p:nvPicPr>
        <p:blipFill>
          <a:blip r:embed="rId4"/>
          <a:stretch>
            <a:fillRect/>
          </a:stretch>
        </p:blipFill>
        <p:spPr>
          <a:xfrm>
            <a:off x="-278749" y="3505200"/>
            <a:ext cx="5438775" cy="3352800"/>
          </a:xfrm>
          <a:prstGeom prst="rect">
            <a:avLst/>
          </a:prstGeom>
        </p:spPr>
      </p:pic>
      <p:pic>
        <p:nvPicPr>
          <p:cNvPr id="6" name="תמונה 5"/>
          <p:cNvPicPr>
            <a:picLocks noChangeAspect="1"/>
          </p:cNvPicPr>
          <p:nvPr/>
        </p:nvPicPr>
        <p:blipFill>
          <a:blip r:embed="rId5"/>
          <a:stretch>
            <a:fillRect/>
          </a:stretch>
        </p:blipFill>
        <p:spPr>
          <a:xfrm>
            <a:off x="4043076" y="394864"/>
            <a:ext cx="4105848" cy="6068272"/>
          </a:xfrm>
          <a:prstGeom prst="rect">
            <a:avLst/>
          </a:prstGeom>
        </p:spPr>
      </p:pic>
      <p:pic>
        <p:nvPicPr>
          <p:cNvPr id="8" name="תמונה 7"/>
          <p:cNvPicPr>
            <a:picLocks noChangeAspect="1"/>
          </p:cNvPicPr>
          <p:nvPr/>
        </p:nvPicPr>
        <p:blipFill>
          <a:blip r:embed="rId6"/>
          <a:stretch>
            <a:fillRect/>
          </a:stretch>
        </p:blipFill>
        <p:spPr>
          <a:xfrm>
            <a:off x="6837225" y="1585912"/>
            <a:ext cx="6754168" cy="5353797"/>
          </a:xfrm>
          <a:prstGeom prst="rect">
            <a:avLst/>
          </a:prstGeom>
        </p:spPr>
      </p:pic>
      <p:pic>
        <p:nvPicPr>
          <p:cNvPr id="9" name="תמונה 8"/>
          <p:cNvPicPr>
            <a:picLocks noChangeAspect="1"/>
          </p:cNvPicPr>
          <p:nvPr/>
        </p:nvPicPr>
        <p:blipFill>
          <a:blip r:embed="rId7"/>
          <a:stretch>
            <a:fillRect/>
          </a:stretch>
        </p:blipFill>
        <p:spPr>
          <a:xfrm>
            <a:off x="2814179" y="666364"/>
            <a:ext cx="6563641" cy="5525271"/>
          </a:xfrm>
          <a:prstGeom prst="rect">
            <a:avLst/>
          </a:prstGeom>
        </p:spPr>
      </p:pic>
    </p:spTree>
    <p:extLst>
      <p:ext uri="{BB962C8B-B14F-4D97-AF65-F5344CB8AC3E}">
        <p14:creationId xmlns:p14="http://schemas.microsoft.com/office/powerpoint/2010/main" val="3455160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קישורים ומידע</a:t>
            </a:r>
            <a:endParaRPr lang="en-US" dirty="0"/>
          </a:p>
        </p:txBody>
      </p:sp>
      <p:sp>
        <p:nvSpPr>
          <p:cNvPr id="4" name="מלבן 3"/>
          <p:cNvSpPr/>
          <p:nvPr/>
        </p:nvSpPr>
        <p:spPr>
          <a:xfrm>
            <a:off x="3048000" y="3105835"/>
            <a:ext cx="6096000" cy="646331"/>
          </a:xfrm>
          <a:prstGeom prst="rect">
            <a:avLst/>
          </a:prstGeom>
        </p:spPr>
        <p:txBody>
          <a:bodyPr>
            <a:spAutoFit/>
          </a:bodyPr>
          <a:lstStyle/>
          <a:p>
            <a:r>
              <a:rPr lang="he-IL" dirty="0"/>
              <a:t>מניח פה </a:t>
            </a:r>
            <a:r>
              <a:rPr lang="he-IL" dirty="0">
                <a:hlinkClick r:id="rId2"/>
              </a:rPr>
              <a:t>קישור זול להזמנה </a:t>
            </a:r>
            <a:r>
              <a:rPr lang="he-IL" dirty="0" err="1">
                <a:hlinkClick r:id="rId2"/>
              </a:rPr>
              <a:t>לפביפורם</a:t>
            </a:r>
            <a:r>
              <a:rPr lang="he-IL" dirty="0">
                <a:hlinkClick r:id="rId2"/>
              </a:rPr>
              <a:t> </a:t>
            </a:r>
            <a:r>
              <a:rPr lang="he-IL" dirty="0" smtClean="0"/>
              <a:t>אפשר </a:t>
            </a:r>
            <a:r>
              <a:rPr lang="he-IL" dirty="0"/>
              <a:t>להזמין הדגמה בדולר למ"ר.</a:t>
            </a:r>
          </a:p>
        </p:txBody>
      </p:sp>
    </p:spTree>
    <p:extLst>
      <p:ext uri="{BB962C8B-B14F-4D97-AF65-F5344CB8AC3E}">
        <p14:creationId xmlns:p14="http://schemas.microsoft.com/office/powerpoint/2010/main" val="3669703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stretch>
            <a:fillRect/>
          </a:stretch>
        </p:blipFill>
        <p:spPr>
          <a:xfrm>
            <a:off x="2289270" y="259185"/>
            <a:ext cx="7735380" cy="6287377"/>
          </a:xfrm>
          <a:prstGeom prst="rect">
            <a:avLst/>
          </a:prstGeom>
        </p:spPr>
      </p:pic>
      <p:sp>
        <p:nvSpPr>
          <p:cNvPr id="5" name="מלבן 4"/>
          <p:cNvSpPr/>
          <p:nvPr/>
        </p:nvSpPr>
        <p:spPr>
          <a:xfrm>
            <a:off x="339635" y="475847"/>
            <a:ext cx="6096000" cy="646331"/>
          </a:xfrm>
          <a:prstGeom prst="rect">
            <a:avLst/>
          </a:prstGeom>
        </p:spPr>
        <p:txBody>
          <a:bodyPr>
            <a:spAutoFit/>
          </a:bodyPr>
          <a:lstStyle/>
          <a:p>
            <a:pPr algn="l" rtl="0"/>
            <a:r>
              <a:rPr lang="en-US" dirty="0"/>
              <a:t>https://raisedwaterresearch.com/spot/artificial-reef/us/california/prattes-reef/</a:t>
            </a:r>
          </a:p>
        </p:txBody>
      </p:sp>
    </p:spTree>
    <p:extLst>
      <p:ext uri="{BB962C8B-B14F-4D97-AF65-F5344CB8AC3E}">
        <p14:creationId xmlns:p14="http://schemas.microsoft.com/office/powerpoint/2010/main" val="3627732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en-US"/>
          </a:p>
        </p:txBody>
      </p:sp>
      <p:sp>
        <p:nvSpPr>
          <p:cNvPr id="3" name="מציין מיקום תוכן 2"/>
          <p:cNvSpPr>
            <a:spLocks noGrp="1"/>
          </p:cNvSpPr>
          <p:nvPr>
            <p:ph idx="1"/>
          </p:nvPr>
        </p:nvSpPr>
        <p:spPr/>
        <p:txBody>
          <a:bodyPr/>
          <a:lstStyle/>
          <a:p>
            <a:r>
              <a:rPr lang="he-IL" dirty="0" smtClean="0"/>
              <a:t>וידאו של גלישה מעל ריף:</a:t>
            </a:r>
            <a:r>
              <a:rPr lang="en-US" dirty="0"/>
              <a:t> </a:t>
            </a:r>
            <a:r>
              <a:rPr lang="en-US" dirty="0">
                <a:hlinkClick r:id="rId2"/>
              </a:rPr>
              <a:t>https://</a:t>
            </a:r>
            <a:r>
              <a:rPr lang="en-US" dirty="0" smtClean="0">
                <a:hlinkClick r:id="rId2"/>
              </a:rPr>
              <a:t>www.youtube.com/watch?v=rP-1QNNjAWk</a:t>
            </a:r>
            <a:r>
              <a:rPr lang="he-IL" dirty="0" smtClean="0"/>
              <a:t> (00:00:16)</a:t>
            </a:r>
          </a:p>
          <a:p>
            <a:r>
              <a:rPr lang="he-IL" dirty="0" smtClean="0"/>
              <a:t>וידאו של גלישה מעל ריף מנקודת המבט של הגולש:</a:t>
            </a:r>
            <a:r>
              <a:rPr lang="en-US" dirty="0"/>
              <a:t> </a:t>
            </a:r>
            <a:r>
              <a:rPr lang="en-US" dirty="0">
                <a:hlinkClick r:id="rId3"/>
              </a:rPr>
              <a:t>https://</a:t>
            </a:r>
            <a:r>
              <a:rPr lang="en-US" dirty="0" smtClean="0">
                <a:hlinkClick r:id="rId3"/>
              </a:rPr>
              <a:t>www.youtube.com/watch?v=1fkx_bZBuWo</a:t>
            </a:r>
            <a:endParaRPr lang="he-IL" dirty="0" smtClean="0"/>
          </a:p>
          <a:p>
            <a:endParaRPr lang="he-IL" dirty="0" smtClean="0"/>
          </a:p>
        </p:txBody>
      </p:sp>
    </p:spTree>
    <p:extLst>
      <p:ext uri="{BB962C8B-B14F-4D97-AF65-F5344CB8AC3E}">
        <p14:creationId xmlns:p14="http://schemas.microsoft.com/office/powerpoint/2010/main" val="1659236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160" y="0"/>
            <a:ext cx="10515600" cy="1325563"/>
          </a:xfrm>
        </p:spPr>
        <p:txBody>
          <a:bodyPr/>
          <a:lstStyle/>
          <a:p>
            <a:endParaRPr lang="en-US"/>
          </a:p>
        </p:txBody>
      </p:sp>
      <p:sp>
        <p:nvSpPr>
          <p:cNvPr id="6" name="Rectangle 3"/>
          <p:cNvSpPr>
            <a:spLocks noGrp="1" noChangeArrowheads="1"/>
          </p:cNvSpPr>
          <p:nvPr>
            <p:ph idx="1"/>
          </p:nvPr>
        </p:nvSpPr>
        <p:spPr bwMode="auto">
          <a:xfrm>
            <a:off x="838200" y="1397901"/>
            <a:ext cx="108204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צלול:</a:t>
            </a:r>
            <a:r>
              <a:rPr kumimoji="0" lang="en-US"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נייר עמדה נגד שוברי גלים ובעד ריף מלאכותי</a:t>
            </a: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050" dirty="0">
                <a:latin typeface="Arial" panose="020B0604020202020204" pitchFamily="34" charset="0"/>
                <a:hlinkClick r:id="rId2"/>
              </a:rPr>
              <a:t>https://zalul.org.il/mazok-hofy</a:t>
            </a:r>
            <a:r>
              <a:rPr lang="en-US" altLang="en-US" sz="1050" dirty="0" smtClean="0">
                <a:latin typeface="Arial" panose="020B0604020202020204" pitchFamily="34" charset="0"/>
                <a:hlinkClick r:id="rId2"/>
              </a:rPr>
              <a:t>/</a:t>
            </a:r>
            <a:r>
              <a:rPr lang="he-IL" altLang="en-US" sz="1050" dirty="0" smtClean="0">
                <a:latin typeface="Arial" panose="020B0604020202020204" pitchFamily="34" charset="0"/>
              </a:rPr>
              <a:t> </a:t>
            </a:r>
            <a:r>
              <a:rPr kumimoji="0" lang="en-US" altLang="en-US" sz="1050" b="0" i="0" u="none" strike="noStrike" cap="none" normalizeH="0" baseline="0" dirty="0" smtClean="0">
                <a:ln>
                  <a:noFill/>
                </a:ln>
                <a:solidFill>
                  <a:schemeClr val="tx1"/>
                </a:solidFill>
                <a:effectLst/>
                <a:latin typeface="Arial" panose="020B0604020202020204" pitchFamily="34" charset="0"/>
              </a:rPr>
              <a:t/>
            </a:r>
            <a:br>
              <a:rPr kumimoji="0" lang="en-US" altLang="en-US" sz="1050" b="0" i="0" u="none" strike="noStrike" cap="none" normalizeH="0" baseline="0" dirty="0" smtClean="0">
                <a:ln>
                  <a:noFill/>
                </a:ln>
                <a:solidFill>
                  <a:schemeClr val="tx1"/>
                </a:solidFill>
                <a:effectLst/>
                <a:latin typeface="Arial" panose="020B0604020202020204" pitchFamily="34" charset="0"/>
              </a:rPr>
            </a:br>
            <a:r>
              <a:rPr kumimoji="0" lang="he-IL" altLang="en-US" sz="1050" b="0" i="0" u="none" strike="noStrike" cap="none" normalizeH="0" baseline="0" dirty="0" err="1" smtClean="0">
                <a:ln>
                  <a:noFill/>
                </a:ln>
                <a:solidFill>
                  <a:schemeClr val="tx1"/>
                </a:solidFill>
                <a:effectLst/>
                <a:latin typeface="Arial" panose="020B0604020202020204" pitchFamily="34" charset="0"/>
              </a:rPr>
              <a:t>וובינר</a:t>
            </a:r>
            <a:r>
              <a:rPr kumimoji="0" lang="he-IL" altLang="en-US" sz="1050" b="0" i="0" u="none" strike="noStrike" cap="none" normalizeH="0" baseline="0" dirty="0" smtClean="0">
                <a:ln>
                  <a:noFill/>
                </a:ln>
                <a:solidFill>
                  <a:schemeClr val="tx1"/>
                </a:solidFill>
                <a:effectLst/>
                <a:latin typeface="Arial" panose="020B0604020202020204" pitchFamily="34" charset="0"/>
              </a:rPr>
              <a:t> בנושא:</a:t>
            </a:r>
            <a:r>
              <a:rPr lang="en-US" altLang="en-US" sz="1050" dirty="0">
                <a:latin typeface="Arial" panose="020B0604020202020204" pitchFamily="34" charset="0"/>
              </a:rPr>
              <a:t> </a:t>
            </a:r>
            <a:r>
              <a:rPr lang="en-US" altLang="en-US" sz="1050" dirty="0">
                <a:latin typeface="Arial" panose="020B0604020202020204" pitchFamily="34" charset="0"/>
                <a:hlinkClick r:id="rId3"/>
              </a:rPr>
              <a:t>https://zalul.org.il/webinar-shovrim</a:t>
            </a:r>
            <a:r>
              <a:rPr lang="en-US" altLang="en-US" sz="1050" dirty="0" smtClean="0">
                <a:latin typeface="Arial" panose="020B0604020202020204" pitchFamily="34" charset="0"/>
                <a:hlinkClick r:id="rId3"/>
              </a:rPr>
              <a:t>/</a:t>
            </a:r>
            <a:r>
              <a:rPr lang="he-IL" altLang="en-US" sz="1050" dirty="0" smtClean="0">
                <a:latin typeface="Arial" panose="020B0604020202020204" pitchFamily="34" charset="0"/>
              </a:rPr>
              <a:t> </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הפיתרון</a:t>
            </a: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האקולוגי להגנת מצוקי ישראל</a:t>
            </a: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החברה הממשלתית להגנות מצוקי הים התיכון החלה בפיילוט לבניית "שונית שיכוך אקולוגית" במעגן מכמורת המבוסס על טכנולוגיה חדשנית • המטרה: בניית מבניים ימיים טבעיים שיפחיתו את עוצמת הגלים הפוגעים במצוק ובכך לשפר את יציבותו</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smtClean="0">
                <a:ln>
                  <a:noFill/>
                </a:ln>
                <a:solidFill>
                  <a:srgbClr val="1155CC"/>
                </a:solidFill>
                <a:effectLst/>
                <a:latin typeface="Arial" panose="020B0604020202020204" pitchFamily="34" charset="0"/>
                <a:hlinkClick r:id="rId4"/>
              </a:rPr>
              <a:t>https://www.mccp.co.il/page.php?type=page&amp;id=8289&amp;m=217&amp;ht=</a:t>
            </a:r>
            <a:r>
              <a:rPr kumimoji="0" lang="en-US" altLang="en-US" sz="1050" b="0" i="0" u="none" strike="noStrike" cap="none" normalizeH="0" baseline="0" dirty="0" smtClean="0">
                <a:ln>
                  <a:noFill/>
                </a:ln>
                <a:solidFill>
                  <a:schemeClr val="tx1"/>
                </a:solidFill>
                <a:effectLst/>
                <a:latin typeface="Arial" panose="020B0604020202020204" pitchFamily="34" charset="0"/>
              </a:rPr>
              <a:t/>
            </a:r>
            <a:br>
              <a:rPr kumimoji="0" lang="en-US" altLang="en-US" sz="1050" b="0" i="0" u="none" strike="noStrike" cap="none" normalizeH="0" baseline="0" dirty="0" smtClean="0">
                <a:ln>
                  <a:noFill/>
                </a:ln>
                <a:solidFill>
                  <a:schemeClr val="tx1"/>
                </a:solidFill>
                <a:effectLst/>
                <a:latin typeface="Arial" panose="020B0604020202020204" pitchFamily="34" charset="0"/>
              </a:rPr>
            </a:b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smtClean="0">
                <a:ln>
                  <a:noFill/>
                </a:ln>
                <a:solidFill>
                  <a:schemeClr val="tx1"/>
                </a:solidFill>
                <a:effectLst/>
                <a:latin typeface="Arial" panose="020B0604020202020204" pitchFamily="34" charset="0"/>
              </a:rPr>
              <a:t/>
            </a:r>
            <a:br>
              <a:rPr kumimoji="0" lang="en-US" altLang="en-US" sz="1050" b="0" i="0" u="none" strike="noStrike" cap="none" normalizeH="0" baseline="0" dirty="0" smtClean="0">
                <a:ln>
                  <a:noFill/>
                </a:ln>
                <a:solidFill>
                  <a:schemeClr val="tx1"/>
                </a:solidFill>
                <a:effectLst/>
                <a:latin typeface="Arial" panose="020B0604020202020204" pitchFamily="34" charset="0"/>
              </a:rPr>
            </a:b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אנשים חשובים: אילן לביא, מנכ"ל החברה הממשלתית להגנות מצוקי חוף הים התיכון</a:t>
            </a:r>
            <a:r>
              <a:rPr kumimoji="0" lang="en-US"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smtClean="0">
                <a:ln>
                  <a:noFill/>
                </a:ln>
                <a:solidFill>
                  <a:srgbClr val="1155CC"/>
                </a:solidFill>
                <a:effectLst/>
                <a:latin typeface="Arial" panose="020B0604020202020204" pitchFamily="34" charset="0"/>
                <a:hlinkClick r:id="rId5"/>
              </a:rPr>
              <a:t>https://www.gov.il/he/pages/netanya-coastal-cliff</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ממשלת ישראל אישרה היום (09/06) פה אחד את הצעת השרה להגנת הסביבה עידית </a:t>
            </a:r>
            <a:r>
              <a:rPr kumimoji="0" lang="he-IL" altLang="en-US" sz="105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סילמן</a:t>
            </a: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להאריך את פעילותה של החברה הממשלתית להגנות מצוקי חוף הים התיכון עוד בשנתיים נוספות. במסגרת החלטת הממשלה, אושר תקציב של כ-90 מיליון ₪ להשלמת ביצוע שלב א' של פרויקט </a:t>
            </a:r>
            <a:r>
              <a:rPr kumimoji="0" lang="he-IL" altLang="en-US" sz="105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ההגנות</a:t>
            </a: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הימיות על המצוק החופי. בכך יושלם תקצוב שלב א' בפרויקט </a:t>
            </a:r>
            <a:r>
              <a:rPr kumimoji="0" lang="he-IL" altLang="en-US" sz="105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ההגנות</a:t>
            </a: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הימיות על המצוק החופי בסכום כולל של 360 מיליון</a:t>
            </a:r>
            <a:r>
              <a:rPr kumimoji="0" lang="en-US"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 </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smtClean="0">
                <a:ln>
                  <a:noFill/>
                </a:ln>
                <a:solidFill>
                  <a:schemeClr val="tx1"/>
                </a:solidFill>
                <a:effectLst/>
                <a:latin typeface="Arial" panose="020B0604020202020204" pitchFamily="34" charset="0"/>
              </a:rPr>
              <a:t/>
            </a:r>
            <a:br>
              <a:rPr kumimoji="0" lang="en-US" altLang="en-US" sz="1050" b="0" i="0" u="none" strike="noStrike" cap="none" normalizeH="0" baseline="0" dirty="0" smtClean="0">
                <a:ln>
                  <a:noFill/>
                </a:ln>
                <a:solidFill>
                  <a:schemeClr val="tx1"/>
                </a:solidFill>
                <a:effectLst/>
                <a:latin typeface="Arial" panose="020B0604020202020204" pitchFamily="34" charset="0"/>
              </a:rPr>
            </a:b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היקף תקציבי שנוצל ומימון </a:t>
            </a:r>
            <a:r>
              <a:rPr kumimoji="0" lang="he-IL" altLang="en-US" sz="1050" b="1"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עירייות</a:t>
            </a:r>
            <a:r>
              <a:rPr kumimoji="0" lang="en-US"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המהפך בחופי נתניה כולל טונות של חול חדש</a:t>
            </a:r>
            <a:endParaRPr kumimoji="0" lang="en-US" altLang="en-US" sz="1050" b="1"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שלב א' של פרויקט הגנת המצוק בנתניה הושלם השבוע וכלל בניית שישה שוברי גלים חדשים והזנת 200 אלף קוב חול בעלות של כ-100 מיליון שקלים. בשלב השני ייבנו עוד שישה שוברי גלים. השרה </a:t>
            </a:r>
            <a:r>
              <a:rPr kumimoji="0" lang="he-IL" altLang="en-US" sz="105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סילמן</a:t>
            </a:r>
            <a:r>
              <a:rPr kumimoji="0" lang="he-IL"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"המדינה חייבת לספק הגנת למצוקי החוף שלה</a:t>
            </a:r>
            <a:r>
              <a:rPr kumimoji="0" lang="en-US" alt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smtClean="0">
                <a:ln>
                  <a:noFill/>
                </a:ln>
                <a:solidFill>
                  <a:srgbClr val="1155CC"/>
                </a:solidFill>
                <a:effectLst/>
                <a:latin typeface="Arial" panose="020B0604020202020204" pitchFamily="34" charset="0"/>
                <a:hlinkClick r:id="rId6"/>
              </a:rPr>
              <a:t>https://www.kipa.co.il/%D7%97%D7%93%D7%A9%D7%95%D7%AA/1165297-0/</a:t>
            </a: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endParaRPr kumimoji="0" lang="he-IL"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endParaRPr lang="he-IL" altLang="en-US" sz="1050" dirty="0">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r>
              <a:rPr kumimoji="0" lang="he-IL" altLang="en-US" sz="1050" b="1" i="0" u="none" strike="noStrike" cap="none" normalizeH="0" baseline="0" dirty="0" smtClean="0">
                <a:ln>
                  <a:noFill/>
                </a:ln>
                <a:solidFill>
                  <a:schemeClr val="tx1"/>
                </a:solidFill>
                <a:effectLst/>
                <a:latin typeface="Arial" panose="020B0604020202020204" pitchFamily="34" charset="0"/>
              </a:rPr>
              <a:t>הבדיקות הנדרשות על ידי המשרד להגנת הסביבה:</a:t>
            </a:r>
          </a:p>
          <a:p>
            <a:pPr marL="0" lvl="0" indent="0" eaLnBrk="0" fontAlgn="base" hangingPunct="0">
              <a:lnSpc>
                <a:spcPct val="100000"/>
              </a:lnSpc>
              <a:spcBef>
                <a:spcPct val="0"/>
              </a:spcBef>
              <a:spcAft>
                <a:spcPct val="0"/>
              </a:spcAft>
              <a:buNone/>
            </a:pPr>
            <a:r>
              <a:rPr lang="en-US" altLang="en-US" sz="1050" dirty="0">
                <a:latin typeface="Arial" panose="020B0604020202020204" pitchFamily="34" charset="0"/>
                <a:hlinkClick r:id="rId7"/>
              </a:rPr>
              <a:t>https://newshaifakrayot.net/?</a:t>
            </a:r>
            <a:r>
              <a:rPr lang="en-US" altLang="en-US" sz="1050" dirty="0" smtClean="0">
                <a:latin typeface="Arial" panose="020B0604020202020204" pitchFamily="34" charset="0"/>
                <a:hlinkClick r:id="rId7"/>
              </a:rPr>
              <a:t>p=362896</a:t>
            </a:r>
            <a:endParaRPr lang="he-IL" altLang="en-US" sz="1050" dirty="0" smtClean="0">
              <a:latin typeface="Arial" panose="020B0604020202020204" pitchFamily="34" charset="0"/>
            </a:endParaRPr>
          </a:p>
          <a:p>
            <a:pPr marL="0" lvl="0" indent="0" eaLnBrk="0" fontAlgn="base" hangingPunct="0">
              <a:lnSpc>
                <a:spcPct val="100000"/>
              </a:lnSpc>
              <a:spcBef>
                <a:spcPct val="0"/>
              </a:spcBef>
              <a:spcAft>
                <a:spcPct val="0"/>
              </a:spcAft>
              <a:buNone/>
            </a:pPr>
            <a:r>
              <a:rPr lang="he-IL" altLang="en-US" sz="1050" dirty="0">
                <a:latin typeface="Arial" panose="020B0604020202020204" pitchFamily="34" charset="0"/>
              </a:rPr>
              <a:t>"המשרד להגנת הסביבה ציין כי הבחינה שבוצעה לנושא השפעת עליית מפלס פני הים אינה כוללת בדיקה של התרחיש שאומץ על ידי המנהלת לשינויי אקלים ואירועי קיצון, וכי יש להשלים בחינה זו ולהציגה לוועדה</a:t>
            </a:r>
            <a:r>
              <a:rPr lang="he-IL" altLang="en-US" sz="1050" dirty="0" smtClean="0">
                <a:latin typeface="Arial" panose="020B0604020202020204" pitchFamily="34" charset="0"/>
              </a:rPr>
              <a:t>."</a:t>
            </a:r>
            <a:r>
              <a:rPr kumimoji="0" lang="en-US" altLang="en-US" sz="1050" b="0" i="0" u="none" strike="noStrike" cap="none" normalizeH="0" baseline="0" dirty="0" smtClean="0">
                <a:ln>
                  <a:noFill/>
                </a:ln>
                <a:solidFill>
                  <a:schemeClr val="tx1"/>
                </a:solidFill>
                <a:effectLst/>
                <a:latin typeface="Arial" panose="020B0604020202020204" pitchFamily="34" charset="0"/>
              </a:rPr>
              <a:t/>
            </a:r>
            <a:br>
              <a:rPr kumimoji="0" lang="en-US" altLang="en-US" sz="1050" b="0" i="0" u="none" strike="noStrike" cap="none" normalizeH="0" baseline="0" dirty="0" smtClean="0">
                <a:ln>
                  <a:noFill/>
                </a:ln>
                <a:solidFill>
                  <a:schemeClr val="tx1"/>
                </a:solidFill>
                <a:effectLst/>
                <a:latin typeface="Arial" panose="020B0604020202020204" pitchFamily="34" charset="0"/>
              </a:rPr>
            </a:br>
            <a:endParaRPr kumimoji="0" lang="he-IL"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endParaRPr lang="he-IL" altLang="en-US" sz="1050" dirty="0">
              <a:latin typeface="Arial" panose="020B0604020202020204" pitchFamily="34" charset="0"/>
            </a:endParaRPr>
          </a:p>
          <a:p>
            <a:pPr marL="0" marR="0" lvl="0" indent="0" algn="r" defTabSz="91440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2015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68829" y="-96429"/>
            <a:ext cx="10515600" cy="1325563"/>
          </a:xfrm>
        </p:spPr>
        <p:txBody>
          <a:bodyPr/>
          <a:lstStyle/>
          <a:p>
            <a:pPr algn="ctr"/>
            <a:r>
              <a:rPr lang="he-IL" dirty="0" smtClean="0"/>
              <a:t>אנשי קשר לפי ערים</a:t>
            </a:r>
            <a:endParaRPr lang="en-US" dirty="0"/>
          </a:p>
        </p:txBody>
      </p:sp>
      <p:pic>
        <p:nvPicPr>
          <p:cNvPr id="4" name="תמונה 3"/>
          <p:cNvPicPr>
            <a:picLocks noChangeAspect="1"/>
          </p:cNvPicPr>
          <p:nvPr/>
        </p:nvPicPr>
        <p:blipFill>
          <a:blip r:embed="rId2"/>
          <a:stretch>
            <a:fillRect/>
          </a:stretch>
        </p:blipFill>
        <p:spPr>
          <a:xfrm>
            <a:off x="1946766" y="2159725"/>
            <a:ext cx="1325446" cy="1208495"/>
          </a:xfrm>
          <a:prstGeom prst="rect">
            <a:avLst/>
          </a:prstGeom>
        </p:spPr>
      </p:pic>
      <p:sp>
        <p:nvSpPr>
          <p:cNvPr id="5" name="TextBox 4"/>
          <p:cNvSpPr txBox="1"/>
          <p:nvPr/>
        </p:nvSpPr>
        <p:spPr>
          <a:xfrm>
            <a:off x="1273995" y="1158241"/>
            <a:ext cx="2670988" cy="923330"/>
          </a:xfrm>
          <a:prstGeom prst="rect">
            <a:avLst/>
          </a:prstGeom>
          <a:noFill/>
        </p:spPr>
        <p:txBody>
          <a:bodyPr wrap="none" rtlCol="0">
            <a:spAutoFit/>
          </a:bodyPr>
          <a:lstStyle/>
          <a:p>
            <a:pPr algn="ctr"/>
            <a:r>
              <a:rPr lang="he-IL" b="1" dirty="0" smtClean="0"/>
              <a:t>אשדוד</a:t>
            </a:r>
            <a:r>
              <a:rPr lang="he-IL" dirty="0" smtClean="0"/>
              <a:t> – חברת מועצת העיר</a:t>
            </a:r>
          </a:p>
          <a:p>
            <a:pPr algn="ctr"/>
            <a:r>
              <a:rPr lang="he-IL" b="1" dirty="0" smtClean="0"/>
              <a:t>שרון מרק</a:t>
            </a:r>
          </a:p>
          <a:p>
            <a:pPr algn="ctr"/>
            <a:r>
              <a:rPr lang="he-IL" dirty="0" smtClean="0"/>
              <a:t>מנעה הקמת שובר גלים צף</a:t>
            </a:r>
            <a:endParaRPr lang="en-US" dirty="0"/>
          </a:p>
        </p:txBody>
      </p:sp>
      <p:sp>
        <p:nvSpPr>
          <p:cNvPr id="6" name="מלבן 5"/>
          <p:cNvSpPr/>
          <p:nvPr/>
        </p:nvSpPr>
        <p:spPr>
          <a:xfrm>
            <a:off x="251565" y="3368220"/>
            <a:ext cx="4412042" cy="369332"/>
          </a:xfrm>
          <a:prstGeom prst="rect">
            <a:avLst/>
          </a:prstGeom>
        </p:spPr>
        <p:txBody>
          <a:bodyPr wrap="none">
            <a:spAutoFit/>
          </a:bodyPr>
          <a:lstStyle/>
          <a:p>
            <a:r>
              <a:rPr lang="en-US" dirty="0">
                <a:hlinkClick r:id="rId3"/>
              </a:rPr>
              <a:t>https://</a:t>
            </a:r>
            <a:r>
              <a:rPr lang="en-US" dirty="0" smtClean="0">
                <a:hlinkClick r:id="rId3"/>
              </a:rPr>
              <a:t>www.kan-ashdod.co.il/news/122249</a:t>
            </a:r>
            <a:r>
              <a:rPr lang="he-IL" dirty="0" smtClean="0"/>
              <a:t> </a:t>
            </a:r>
            <a:endParaRPr lang="en-US" dirty="0"/>
          </a:p>
        </p:txBody>
      </p:sp>
      <p:pic>
        <p:nvPicPr>
          <p:cNvPr id="2050" name="Picture 2" descr="אילן לביא תורם כליה - מתנת חיים"/>
          <p:cNvPicPr>
            <a:picLocks noChangeAspect="1" noChangeArrowheads="1"/>
          </p:cNvPicPr>
          <p:nvPr/>
        </p:nvPicPr>
        <p:blipFill rotWithShape="1">
          <a:blip r:embed="rId4">
            <a:extLst>
              <a:ext uri="{28A0092B-C50C-407E-A947-70E740481C1C}">
                <a14:useLocalDpi xmlns:a14="http://schemas.microsoft.com/office/drawing/2010/main" val="0"/>
              </a:ext>
            </a:extLst>
          </a:blip>
          <a:srcRect l="29485" t="4353" r="40725" b="27438"/>
          <a:stretch/>
        </p:blipFill>
        <p:spPr bwMode="auto">
          <a:xfrm>
            <a:off x="9309464" y="1872178"/>
            <a:ext cx="1297577" cy="1487467"/>
          </a:xfrm>
          <a:prstGeom prst="rect">
            <a:avLst/>
          </a:prstGeom>
          <a:noFill/>
          <a:extLst>
            <a:ext uri="{909E8E84-426E-40DD-AFC4-6F175D3DCCD1}">
              <a14:hiddenFill xmlns:a14="http://schemas.microsoft.com/office/drawing/2010/main">
                <a:solidFill>
                  <a:srgbClr val="FFFFFF"/>
                </a:solidFill>
              </a14:hiddenFill>
            </a:ext>
          </a:extLst>
        </p:spPr>
      </p:pic>
      <p:sp>
        <p:nvSpPr>
          <p:cNvPr id="7" name="מלבן 6"/>
          <p:cNvSpPr/>
          <p:nvPr/>
        </p:nvSpPr>
        <p:spPr>
          <a:xfrm>
            <a:off x="7434944" y="1158241"/>
            <a:ext cx="4835434" cy="646331"/>
          </a:xfrm>
          <a:prstGeom prst="rect">
            <a:avLst/>
          </a:prstGeom>
        </p:spPr>
        <p:txBody>
          <a:bodyPr wrap="square">
            <a:spAutoFit/>
          </a:bodyPr>
          <a:lstStyle/>
          <a:p>
            <a:pPr lvl="0" algn="ctr" eaLnBrk="0" fontAlgn="base" hangingPunct="0">
              <a:spcBef>
                <a:spcPct val="0"/>
              </a:spcBef>
              <a:spcAft>
                <a:spcPct val="0"/>
              </a:spcAft>
            </a:pPr>
            <a:r>
              <a:rPr lang="he-IL" altLang="en-US" b="1" dirty="0">
                <a:latin typeface="Arial" panose="020B0604020202020204" pitchFamily="34" charset="0"/>
              </a:rPr>
              <a:t>אילן לביא, מנכ"ל החברה הממשלתית להגנות מצוקי חוף הים התיכון</a:t>
            </a:r>
            <a:r>
              <a:rPr lang="en-US" altLang="en-US" b="1" dirty="0">
                <a:latin typeface="Arial" panose="020B0604020202020204" pitchFamily="34" charset="0"/>
                <a:cs typeface="Arial" panose="020B0604020202020204" pitchFamily="34" charset="0"/>
              </a:rPr>
              <a:t> </a:t>
            </a:r>
            <a:endParaRPr lang="en-US" altLang="en-US" b="1" dirty="0">
              <a:latin typeface="Arial" panose="020B0604020202020204" pitchFamily="34" charset="0"/>
            </a:endParaRPr>
          </a:p>
        </p:txBody>
      </p:sp>
      <p:sp>
        <p:nvSpPr>
          <p:cNvPr id="8" name="מלבן 7"/>
          <p:cNvSpPr/>
          <p:nvPr/>
        </p:nvSpPr>
        <p:spPr>
          <a:xfrm>
            <a:off x="8826637" y="3414387"/>
            <a:ext cx="2464137" cy="369332"/>
          </a:xfrm>
          <a:prstGeom prst="rect">
            <a:avLst/>
          </a:prstGeom>
        </p:spPr>
        <p:txBody>
          <a:bodyPr wrap="none">
            <a:spAutoFit/>
          </a:bodyPr>
          <a:lstStyle/>
          <a:p>
            <a:r>
              <a:rPr lang="he-IL" dirty="0" smtClean="0"/>
              <a:t>תרם כליה, היה בכיר בח"י</a:t>
            </a:r>
            <a:endParaRPr lang="en-US" dirty="0"/>
          </a:p>
        </p:txBody>
      </p:sp>
      <p:graphicFrame>
        <p:nvGraphicFramePr>
          <p:cNvPr id="9" name="טבלה 8"/>
          <p:cNvGraphicFramePr>
            <a:graphicFrameLocks noGrp="1"/>
          </p:cNvGraphicFramePr>
          <p:nvPr>
            <p:extLst>
              <p:ext uri="{D42A27DB-BD31-4B8C-83A1-F6EECF244321}">
                <p14:modId xmlns:p14="http://schemas.microsoft.com/office/powerpoint/2010/main" val="981032055"/>
              </p:ext>
            </p:extLst>
          </p:nvPr>
        </p:nvGraphicFramePr>
        <p:xfrm>
          <a:off x="7493727" y="3783719"/>
          <a:ext cx="4376055" cy="914400"/>
        </p:xfrm>
        <a:graphic>
          <a:graphicData uri="http://schemas.openxmlformats.org/drawingml/2006/table">
            <a:tbl>
              <a:tblPr/>
              <a:tblGrid>
                <a:gridCol w="875211">
                  <a:extLst>
                    <a:ext uri="{9D8B030D-6E8A-4147-A177-3AD203B41FA5}">
                      <a16:colId xmlns:a16="http://schemas.microsoft.com/office/drawing/2014/main" val="3597751148"/>
                    </a:ext>
                  </a:extLst>
                </a:gridCol>
                <a:gridCol w="875211">
                  <a:extLst>
                    <a:ext uri="{9D8B030D-6E8A-4147-A177-3AD203B41FA5}">
                      <a16:colId xmlns:a16="http://schemas.microsoft.com/office/drawing/2014/main" val="3249546369"/>
                    </a:ext>
                  </a:extLst>
                </a:gridCol>
                <a:gridCol w="875211">
                  <a:extLst>
                    <a:ext uri="{9D8B030D-6E8A-4147-A177-3AD203B41FA5}">
                      <a16:colId xmlns:a16="http://schemas.microsoft.com/office/drawing/2014/main" val="2253297672"/>
                    </a:ext>
                  </a:extLst>
                </a:gridCol>
                <a:gridCol w="875211">
                  <a:extLst>
                    <a:ext uri="{9D8B030D-6E8A-4147-A177-3AD203B41FA5}">
                      <a16:colId xmlns:a16="http://schemas.microsoft.com/office/drawing/2014/main" val="792146734"/>
                    </a:ext>
                  </a:extLst>
                </a:gridCol>
                <a:gridCol w="875211">
                  <a:extLst>
                    <a:ext uri="{9D8B030D-6E8A-4147-A177-3AD203B41FA5}">
                      <a16:colId xmlns:a16="http://schemas.microsoft.com/office/drawing/2014/main" val="2359151972"/>
                    </a:ext>
                  </a:extLst>
                </a:gridCol>
              </a:tblGrid>
              <a:tr h="0">
                <a:tc>
                  <a:txBody>
                    <a:bodyPr/>
                    <a:lstStyle/>
                    <a:p>
                      <a:r>
                        <a:rPr lang="he-IL" sz="1200">
                          <a:effectLst/>
                        </a:rPr>
                        <a:t>אילן לביא</a:t>
                      </a:r>
                      <a:endParaRPr lang="he-IL">
                        <a:effectLst/>
                      </a:endParaRPr>
                    </a:p>
                  </a:txBody>
                  <a:tcPr marL="106680" marR="106680" marT="91440" marB="91440" anchor="ctr">
                    <a:lnL>
                      <a:noFill/>
                    </a:lnL>
                    <a:lnR>
                      <a:noFill/>
                    </a:lnR>
                    <a:lnT>
                      <a:noFill/>
                    </a:lnT>
                    <a:lnB w="7620" cap="flat" cmpd="sng" algn="ctr">
                      <a:solidFill>
                        <a:srgbClr val="D4D4D4"/>
                      </a:solidFill>
                      <a:prstDash val="solid"/>
                      <a:round/>
                      <a:headEnd type="none" w="med" len="med"/>
                      <a:tailEnd type="none" w="med" len="med"/>
                    </a:lnB>
                    <a:solidFill>
                      <a:srgbClr val="FFFFFF"/>
                    </a:solidFill>
                  </a:tcPr>
                </a:tc>
                <a:tc>
                  <a:txBody>
                    <a:bodyPr/>
                    <a:lstStyle/>
                    <a:p>
                      <a:r>
                        <a:rPr lang="en-US" sz="1200" b="1" u="sng" dirty="0">
                          <a:solidFill>
                            <a:srgbClr val="0000FF"/>
                          </a:solidFill>
                          <a:effectLst/>
                          <a:hlinkClick r:id="rId5"/>
                        </a:rPr>
                        <a:t>ilan@mccp.co.il</a:t>
                      </a:r>
                      <a:endParaRPr lang="en-US" dirty="0">
                        <a:effectLst/>
                      </a:endParaRPr>
                    </a:p>
                  </a:txBody>
                  <a:tcPr marL="106680" marR="106680" marT="91440" marB="91440" anchor="ctr">
                    <a:lnL>
                      <a:noFill/>
                    </a:lnL>
                    <a:lnR>
                      <a:noFill/>
                    </a:lnR>
                    <a:lnT>
                      <a:noFill/>
                    </a:lnT>
                    <a:lnB w="7620" cap="flat" cmpd="sng" algn="ctr">
                      <a:solidFill>
                        <a:srgbClr val="D4D4D4"/>
                      </a:solidFill>
                      <a:prstDash val="solid"/>
                      <a:round/>
                      <a:headEnd type="none" w="med" len="med"/>
                      <a:tailEnd type="none" w="med" len="med"/>
                    </a:lnB>
                    <a:solidFill>
                      <a:srgbClr val="FFFFFF"/>
                    </a:solidFill>
                  </a:tcPr>
                </a:tc>
                <a:tc>
                  <a:txBody>
                    <a:bodyPr/>
                    <a:lstStyle/>
                    <a:p>
                      <a:r>
                        <a:rPr lang="he-IL" sz="1200">
                          <a:effectLst/>
                        </a:rPr>
                        <a:t>מנכ"ל</a:t>
                      </a:r>
                      <a:endParaRPr lang="he-IL">
                        <a:effectLst/>
                      </a:endParaRPr>
                    </a:p>
                  </a:txBody>
                  <a:tcPr marL="106680" marR="106680" marT="91440" marB="91440" anchor="ctr">
                    <a:lnL>
                      <a:noFill/>
                    </a:lnL>
                    <a:lnR>
                      <a:noFill/>
                    </a:lnR>
                    <a:lnT>
                      <a:noFill/>
                    </a:lnT>
                    <a:lnB w="7620" cap="flat" cmpd="sng" algn="ctr">
                      <a:solidFill>
                        <a:srgbClr val="D4D4D4"/>
                      </a:solidFill>
                      <a:prstDash val="solid"/>
                      <a:round/>
                      <a:headEnd type="none" w="med" len="med"/>
                      <a:tailEnd type="none" w="med" len="med"/>
                    </a:lnB>
                    <a:solidFill>
                      <a:srgbClr val="FFFFFF"/>
                    </a:solidFill>
                  </a:tcPr>
                </a:tc>
                <a:tc>
                  <a:txBody>
                    <a:bodyPr/>
                    <a:lstStyle/>
                    <a:p>
                      <a:r>
                        <a:rPr lang="en-US" sz="1200" dirty="0">
                          <a:effectLst/>
                        </a:rPr>
                        <a:t>0529201751</a:t>
                      </a:r>
                      <a:endParaRPr lang="en-US" dirty="0">
                        <a:effectLst/>
                      </a:endParaRPr>
                    </a:p>
                  </a:txBody>
                  <a:tcPr marL="106680" marR="106680" marT="91440" marB="91440" anchor="ctr">
                    <a:lnL>
                      <a:noFill/>
                    </a:lnL>
                    <a:lnR>
                      <a:noFill/>
                    </a:lnR>
                    <a:lnT>
                      <a:noFill/>
                    </a:lnT>
                    <a:lnB w="7620" cap="flat" cmpd="sng" algn="ctr">
                      <a:solidFill>
                        <a:srgbClr val="D4D4D4"/>
                      </a:solidFill>
                      <a:prstDash val="solid"/>
                      <a:round/>
                      <a:headEnd type="none" w="med" len="med"/>
                      <a:tailEnd type="none" w="med" len="med"/>
                    </a:lnB>
                    <a:solidFill>
                      <a:srgbClr val="FFFFFF"/>
                    </a:solidFill>
                  </a:tcPr>
                </a:tc>
                <a:tc>
                  <a:txBody>
                    <a:bodyPr/>
                    <a:lstStyle/>
                    <a:p>
                      <a:r>
                        <a:rPr lang="he-IL" sz="1200" dirty="0">
                          <a:effectLst/>
                        </a:rPr>
                        <a:t>טל: 09-7794333</a:t>
                      </a:r>
                      <a:br>
                        <a:rPr lang="he-IL" sz="1200" dirty="0">
                          <a:effectLst/>
                        </a:rPr>
                      </a:br>
                      <a:r>
                        <a:rPr lang="he-IL" sz="1200" dirty="0">
                          <a:effectLst/>
                        </a:rPr>
                        <a:t/>
                      </a:r>
                      <a:br>
                        <a:rPr lang="he-IL" sz="1200" dirty="0">
                          <a:effectLst/>
                        </a:rPr>
                      </a:br>
                      <a:r>
                        <a:rPr lang="he-IL" sz="1200" dirty="0">
                          <a:effectLst/>
                        </a:rPr>
                        <a:t>שלוחה: 1</a:t>
                      </a:r>
                      <a:endParaRPr lang="he-IL" dirty="0">
                        <a:effectLst/>
                      </a:endParaRPr>
                    </a:p>
                  </a:txBody>
                  <a:tcPr marL="106680" marR="106680" marT="91440" marB="91440" anchor="ctr">
                    <a:lnL>
                      <a:noFill/>
                    </a:lnL>
                    <a:lnR>
                      <a:noFill/>
                    </a:lnR>
                    <a:lnT>
                      <a:noFill/>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226515688"/>
                  </a:ext>
                </a:extLst>
              </a:tr>
            </a:tbl>
          </a:graphicData>
        </a:graphic>
      </p:graphicFrame>
      <p:sp>
        <p:nvSpPr>
          <p:cNvPr id="10" name="מלבן 9"/>
          <p:cNvSpPr/>
          <p:nvPr/>
        </p:nvSpPr>
        <p:spPr>
          <a:xfrm>
            <a:off x="7193280" y="4813116"/>
            <a:ext cx="4920148" cy="1477328"/>
          </a:xfrm>
          <a:prstGeom prst="rect">
            <a:avLst/>
          </a:prstGeom>
        </p:spPr>
        <p:txBody>
          <a:bodyPr wrap="square">
            <a:spAutoFit/>
          </a:bodyPr>
          <a:lstStyle/>
          <a:p>
            <a:pPr algn="just"/>
            <a:r>
              <a:rPr lang="he-IL" dirty="0" smtClean="0"/>
              <a:t>היה פתוח אצלו בדפדפן האתר של בריכת הגלישה בתל אביב ב9.9.2025, שזה 3 חודשים אחרים הפתיחה (במחשב </a:t>
            </a:r>
            <a:r>
              <a:rPr lang="he-IL" b="1" dirty="0" smtClean="0"/>
              <a:t>של יונתן </a:t>
            </a:r>
            <a:r>
              <a:rPr lang="he-IL" b="1" dirty="0" err="1" smtClean="0"/>
              <a:t>ברוזין</a:t>
            </a:r>
            <a:r>
              <a:rPr lang="he-IL" b="1" dirty="0" smtClean="0"/>
              <a:t>, ראש תחום </a:t>
            </a:r>
            <a:r>
              <a:rPr lang="he-IL" b="1" dirty="0" err="1" smtClean="0"/>
              <a:t>פרוייקטים</a:t>
            </a:r>
            <a:r>
              <a:rPr lang="he-IL" b="1" dirty="0" smtClean="0"/>
              <a:t> בחברה להגנת המצוקים – </a:t>
            </a:r>
            <a:r>
              <a:rPr lang="he-IL" b="1" smtClean="0"/>
              <a:t>גולש בהרצליה</a:t>
            </a:r>
            <a:r>
              <a:rPr lang="he-IL" smtClean="0"/>
              <a:t>)</a:t>
            </a:r>
            <a:endParaRPr lang="en-US" dirty="0"/>
          </a:p>
        </p:txBody>
      </p:sp>
    </p:spTree>
    <p:extLst>
      <p:ext uri="{BB962C8B-B14F-4D97-AF65-F5344CB8AC3E}">
        <p14:creationId xmlns:p14="http://schemas.microsoft.com/office/powerpoint/2010/main" val="839882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en-US"/>
          </a:p>
        </p:txBody>
      </p:sp>
      <p:sp>
        <p:nvSpPr>
          <p:cNvPr id="3" name="מציין מיקום תוכן 2"/>
          <p:cNvSpPr>
            <a:spLocks noGrp="1"/>
          </p:cNvSpPr>
          <p:nvPr>
            <p:ph idx="1"/>
          </p:nvPr>
        </p:nvSpPr>
        <p:spPr/>
        <p:txBody>
          <a:bodyPr/>
          <a:lstStyle/>
          <a:p>
            <a:endParaRPr lang="en-US"/>
          </a:p>
        </p:txBody>
      </p:sp>
      <p:pic>
        <p:nvPicPr>
          <p:cNvPr id="4" name="תמונה 3"/>
          <p:cNvPicPr>
            <a:picLocks noChangeAspect="1"/>
          </p:cNvPicPr>
          <p:nvPr/>
        </p:nvPicPr>
        <p:blipFill>
          <a:blip r:embed="rId2"/>
          <a:stretch>
            <a:fillRect/>
          </a:stretch>
        </p:blipFill>
        <p:spPr>
          <a:xfrm>
            <a:off x="319087" y="219075"/>
            <a:ext cx="11553825" cy="6419850"/>
          </a:xfrm>
          <a:prstGeom prst="rect">
            <a:avLst/>
          </a:prstGeom>
        </p:spPr>
      </p:pic>
    </p:spTree>
    <p:extLst>
      <p:ext uri="{BB962C8B-B14F-4D97-AF65-F5344CB8AC3E}">
        <p14:creationId xmlns:p14="http://schemas.microsoft.com/office/powerpoint/2010/main" val="153528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60120" y="52939"/>
            <a:ext cx="10515600" cy="1325563"/>
          </a:xfrm>
        </p:spPr>
        <p:txBody>
          <a:bodyPr/>
          <a:lstStyle/>
          <a:p>
            <a:r>
              <a:rPr lang="he-IL" dirty="0" smtClean="0"/>
              <a:t>פניה לצלול</a:t>
            </a:r>
            <a:endParaRPr lang="en-US" dirty="0"/>
          </a:p>
        </p:txBody>
      </p:sp>
      <p:sp>
        <p:nvSpPr>
          <p:cNvPr id="4" name="מלבן 3"/>
          <p:cNvSpPr/>
          <p:nvPr/>
        </p:nvSpPr>
        <p:spPr>
          <a:xfrm>
            <a:off x="2865119" y="931380"/>
            <a:ext cx="8760823" cy="5632311"/>
          </a:xfrm>
          <a:prstGeom prst="rect">
            <a:avLst/>
          </a:prstGeom>
        </p:spPr>
        <p:txBody>
          <a:bodyPr wrap="square">
            <a:spAutoFit/>
          </a:bodyPr>
          <a:lstStyle/>
          <a:p>
            <a:r>
              <a:rPr lang="he-IL" dirty="0">
                <a:latin typeface="Times New Roman" panose="02020603050405020304" pitchFamily="18" charset="0"/>
                <a:ea typeface="Times New Roman" panose="02020603050405020304" pitchFamily="18" charset="0"/>
              </a:rPr>
              <a:t>היי</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שמי ליאור, ואני פונה אליכם במטרה לקדם שיתוף פעולה לקידום יוזמה לשיפור הסביבה הימית בישראל</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אנחנו עובדים על פרויקט שמטרתו לחקור את ההשפעה של ריף מלאכותי על שימור החופים ושיפור תנאי הגלישה בישראל</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ישראל היא מקום ייחודי להקמת ריף כזה – תנאי הגאות והשפל כאן מאפשרים יציבות גבוהה ותחזוקה טבעית לאורך זמן, ולכן יש לכך פוטנציאל עצום – גם מבחינת סביבה ימית וגם מבחינת קידום ישראל כמרכז גלישה אזורי</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לפרויקטים של ריפים מלאכותיים יש "תופעות לוואי" חיוביות רבות – ביניהן הגנה על המצוק החופי ויצירת סביבת מחיה עשירה לבעלי חיים ימיים</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כחובבי ים וכמי שמאמינים בשימור הסביבה, חשוב לנו שהפרויקט יעשה תוך שמירה על הטבע, עם כמה שפחות השפעה מלאכותית, וכמה שיותר שימור </a:t>
            </a:r>
            <a:r>
              <a:rPr lang="he-IL" dirty="0" err="1">
                <a:latin typeface="Times New Roman" panose="02020603050405020304" pitchFamily="18" charset="0"/>
                <a:ea typeface="Times New Roman" panose="02020603050405020304" pitchFamily="18" charset="0"/>
              </a:rPr>
              <a:t>טיבעי</a:t>
            </a:r>
            <a:r>
              <a:rPr lang="he-IL" dirty="0">
                <a:latin typeface="Times New Roman" panose="02020603050405020304" pitchFamily="18" charset="0"/>
                <a:ea typeface="Times New Roman" panose="02020603050405020304" pitchFamily="18" charset="0"/>
              </a:rPr>
              <a:t> של הסביבה הימית, מים חוף ונוף</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קראתי לאחרונה את נייר העמדה שלכם בנושא "הגנה על המצוק החופי – ‘צלול’ דורשת חלופות לשוברי הגלים" (אוגוסט האחרון):</a:t>
            </a:r>
            <a:r>
              <a:rPr lang="en-US" u="sng" dirty="0">
                <a:solidFill>
                  <a:srgbClr val="0563C1"/>
                </a:solidFill>
                <a:latin typeface="Times New Roman" panose="02020603050405020304" pitchFamily="18" charset="0"/>
                <a:ea typeface="Times New Roman" panose="02020603050405020304" pitchFamily="18" charset="0"/>
                <a:hlinkClick r:id="rId2"/>
              </a:rPr>
              <a:t>https://zalul.org.il/mazok-hofy/</a:t>
            </a:r>
            <a:endParaRPr lang="en-US" dirty="0">
              <a:latin typeface="Times New Roman" panose="02020603050405020304" pitchFamily="18" charset="0"/>
              <a:ea typeface="Times New Roman" panose="02020603050405020304" pitchFamily="18" charset="0"/>
            </a:endParaRPr>
          </a:p>
          <a:p>
            <a:r>
              <a:rPr lang="he-IL" dirty="0">
                <a:latin typeface="Times New Roman" panose="02020603050405020304" pitchFamily="18" charset="0"/>
                <a:ea typeface="Times New Roman" panose="02020603050405020304" pitchFamily="18" charset="0"/>
              </a:rPr>
              <a:t>רציתי לשאול האם בוצע כבר סקר מיפוי הסלעים הטבעיים שציינתם שם. אם כן – נשמח ללמוד מהנתונים; ואם טרם בוצע, נשמח להבין כיצד נוכל לסייע בקידום הנושא או לשתף פעולה סביבו</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אשמח מאוד לשוחח או להיפגש כדי לשמוע מניסיונכם ולהציג את הפרויקט שלנו</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תודה מראש על זמנכם</a:t>
            </a:r>
            <a:r>
              <a:rPr lang="en-US" dirty="0">
                <a:latin typeface="Times New Roman" panose="02020603050405020304" pitchFamily="18" charset="0"/>
                <a:ea typeface="Times New Roman" panose="02020603050405020304" pitchFamily="18" charset="0"/>
              </a:rPr>
              <a:t>,</a:t>
            </a:r>
            <a:br>
              <a:rPr lang="en-US" dirty="0">
                <a:latin typeface="Times New Roman" panose="02020603050405020304" pitchFamily="18" charset="0"/>
                <a:ea typeface="Times New Roman" panose="02020603050405020304" pitchFamily="18" charset="0"/>
              </a:rPr>
            </a:br>
            <a:r>
              <a:rPr lang="he-IL" dirty="0">
                <a:latin typeface="Times New Roman" panose="02020603050405020304" pitchFamily="18" charset="0"/>
                <a:ea typeface="Times New Roman" panose="02020603050405020304" pitchFamily="18" charset="0"/>
              </a:rPr>
              <a:t>בברכה</a:t>
            </a:r>
            <a:r>
              <a:rPr lang="en-US" dirty="0">
                <a:latin typeface="Times New Roman" panose="02020603050405020304" pitchFamily="18" charset="0"/>
                <a:ea typeface="Times New Roman" panose="02020603050405020304" pitchFamily="18" charset="0"/>
              </a:rPr>
              <a:t>,</a:t>
            </a:r>
          </a:p>
          <a:p>
            <a:r>
              <a:rPr lang="he-IL" dirty="0">
                <a:latin typeface="Times New Roman" panose="02020603050405020304" pitchFamily="18" charset="0"/>
                <a:ea typeface="Times New Roman" panose="02020603050405020304" pitchFamily="18" charset="0"/>
              </a:rPr>
              <a:t>ליאור</a:t>
            </a:r>
            <a:endParaRPr lang="en-US"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41050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en-US"/>
          </a:p>
        </p:txBody>
      </p:sp>
      <p:sp>
        <p:nvSpPr>
          <p:cNvPr id="3" name="מציין מיקום תוכן 2"/>
          <p:cNvSpPr>
            <a:spLocks noGrp="1"/>
          </p:cNvSpPr>
          <p:nvPr>
            <p:ph idx="1"/>
          </p:nvPr>
        </p:nvSpPr>
        <p:spPr/>
        <p:txBody>
          <a:bodyPr/>
          <a:lstStyle/>
          <a:p>
            <a:endParaRPr lang="en-US"/>
          </a:p>
        </p:txBody>
      </p:sp>
      <p:pic>
        <p:nvPicPr>
          <p:cNvPr id="4" name="תמונה 3"/>
          <p:cNvPicPr>
            <a:picLocks noChangeAspect="1"/>
          </p:cNvPicPr>
          <p:nvPr/>
        </p:nvPicPr>
        <p:blipFill>
          <a:blip r:embed="rId2"/>
          <a:stretch>
            <a:fillRect/>
          </a:stretch>
        </p:blipFill>
        <p:spPr>
          <a:xfrm>
            <a:off x="3026345" y="0"/>
            <a:ext cx="9017610" cy="6723230"/>
          </a:xfrm>
          <a:prstGeom prst="rect">
            <a:avLst/>
          </a:prstGeom>
        </p:spPr>
      </p:pic>
      <p:sp>
        <p:nvSpPr>
          <p:cNvPr id="5" name="מלבן 4"/>
          <p:cNvSpPr/>
          <p:nvPr/>
        </p:nvSpPr>
        <p:spPr>
          <a:xfrm>
            <a:off x="3207806" y="365125"/>
            <a:ext cx="5776388" cy="369332"/>
          </a:xfrm>
          <a:prstGeom prst="rect">
            <a:avLst/>
          </a:prstGeom>
        </p:spPr>
        <p:txBody>
          <a:bodyPr wrap="none">
            <a:spAutoFit/>
          </a:bodyPr>
          <a:lstStyle/>
          <a:p>
            <a:r>
              <a:rPr lang="en-US" smtClean="0"/>
              <a:t>https://emodnet.ec.europa.eu/en/bathymetry#background</a:t>
            </a:r>
            <a:endParaRPr lang="en-US" dirty="0"/>
          </a:p>
        </p:txBody>
      </p:sp>
      <p:sp>
        <p:nvSpPr>
          <p:cNvPr id="6" name="מלבן 5"/>
          <p:cNvSpPr/>
          <p:nvPr/>
        </p:nvSpPr>
        <p:spPr>
          <a:xfrm>
            <a:off x="3207806" y="549791"/>
            <a:ext cx="4200060" cy="369332"/>
          </a:xfrm>
          <a:prstGeom prst="rect">
            <a:avLst/>
          </a:prstGeom>
        </p:spPr>
        <p:txBody>
          <a:bodyPr wrap="none">
            <a:spAutoFit/>
          </a:bodyPr>
          <a:lstStyle/>
          <a:p>
            <a:r>
              <a:rPr lang="en-US" dirty="0"/>
              <a:t>https://emodnet.ec.europa.eu/geoviewer/</a:t>
            </a:r>
          </a:p>
        </p:txBody>
      </p:sp>
    </p:spTree>
    <p:extLst>
      <p:ext uri="{BB962C8B-B14F-4D97-AF65-F5344CB8AC3E}">
        <p14:creationId xmlns:p14="http://schemas.microsoft.com/office/powerpoint/2010/main" val="334479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en-US"/>
          </a:p>
        </p:txBody>
      </p:sp>
      <p:sp>
        <p:nvSpPr>
          <p:cNvPr id="3" name="מציין מיקום תוכן 2"/>
          <p:cNvSpPr>
            <a:spLocks noGrp="1"/>
          </p:cNvSpPr>
          <p:nvPr>
            <p:ph idx="1"/>
          </p:nvPr>
        </p:nvSpPr>
        <p:spPr/>
        <p:txBody>
          <a:bodyPr/>
          <a:lstStyle/>
          <a:p>
            <a:endParaRPr lang="en-US" dirty="0"/>
          </a:p>
        </p:txBody>
      </p:sp>
      <p:pic>
        <p:nvPicPr>
          <p:cNvPr id="4" name="תמונה 3"/>
          <p:cNvPicPr>
            <a:picLocks noChangeAspect="1"/>
          </p:cNvPicPr>
          <p:nvPr/>
        </p:nvPicPr>
        <p:blipFill>
          <a:blip r:embed="rId2"/>
          <a:stretch>
            <a:fillRect/>
          </a:stretch>
        </p:blipFill>
        <p:spPr>
          <a:xfrm>
            <a:off x="5141795" y="116310"/>
            <a:ext cx="6675736" cy="6625380"/>
          </a:xfrm>
          <a:prstGeom prst="rect">
            <a:avLst/>
          </a:prstGeom>
        </p:spPr>
      </p:pic>
      <p:sp>
        <p:nvSpPr>
          <p:cNvPr id="5" name="מלבן 4"/>
          <p:cNvSpPr/>
          <p:nvPr/>
        </p:nvSpPr>
        <p:spPr>
          <a:xfrm>
            <a:off x="374469" y="1044357"/>
            <a:ext cx="6096000" cy="646331"/>
          </a:xfrm>
          <a:prstGeom prst="rect">
            <a:avLst/>
          </a:prstGeom>
        </p:spPr>
        <p:txBody>
          <a:bodyPr>
            <a:spAutoFit/>
          </a:bodyPr>
          <a:lstStyle/>
          <a:p>
            <a:pPr algn="l" rtl="0"/>
            <a:r>
              <a:rPr lang="en-US" dirty="0"/>
              <a:t>https://www.gov.il/en/pages/mediterranean-coast-bathymetric-map</a:t>
            </a:r>
          </a:p>
        </p:txBody>
      </p:sp>
      <p:sp>
        <p:nvSpPr>
          <p:cNvPr id="6" name="מלבן 5"/>
          <p:cNvSpPr/>
          <p:nvPr/>
        </p:nvSpPr>
        <p:spPr>
          <a:xfrm>
            <a:off x="224544" y="607557"/>
            <a:ext cx="4685385" cy="369332"/>
          </a:xfrm>
          <a:prstGeom prst="rect">
            <a:avLst/>
          </a:prstGeom>
        </p:spPr>
        <p:txBody>
          <a:bodyPr wrap="none">
            <a:spAutoFit/>
          </a:bodyPr>
          <a:lstStyle/>
          <a:p>
            <a:r>
              <a:rPr lang="en-US" dirty="0"/>
              <a:t>https://www.gov.il/en/pages/bathymetric-maps</a:t>
            </a:r>
          </a:p>
        </p:txBody>
      </p:sp>
    </p:spTree>
    <p:extLst>
      <p:ext uri="{BB962C8B-B14F-4D97-AF65-F5344CB8AC3E}">
        <p14:creationId xmlns:p14="http://schemas.microsoft.com/office/powerpoint/2010/main" val="1531172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201008"/>
            <a:ext cx="10515600" cy="1325563"/>
          </a:xfrm>
        </p:spPr>
        <p:txBody>
          <a:bodyPr/>
          <a:lstStyle/>
          <a:p>
            <a:r>
              <a:rPr lang="he-IL" dirty="0" smtClean="0"/>
              <a:t>הכי טוב למדידת תנועת חולות</a:t>
            </a:r>
            <a:endParaRPr lang="en-US" dirty="0"/>
          </a:p>
        </p:txBody>
      </p:sp>
      <p:sp>
        <p:nvSpPr>
          <p:cNvPr id="3" name="מציין מיקום תוכן 2"/>
          <p:cNvSpPr>
            <a:spLocks noGrp="1"/>
          </p:cNvSpPr>
          <p:nvPr>
            <p:ph idx="1"/>
          </p:nvPr>
        </p:nvSpPr>
        <p:spPr>
          <a:xfrm>
            <a:off x="5413829" y="4817839"/>
            <a:ext cx="6598920" cy="1232106"/>
          </a:xfrm>
        </p:spPr>
        <p:txBody>
          <a:bodyPr>
            <a:normAutofit fontScale="92500" lnSpcReduction="20000"/>
          </a:bodyPr>
          <a:lstStyle/>
          <a:p>
            <a:r>
              <a:rPr lang="he-IL" dirty="0" smtClean="0"/>
              <a:t>בחוף פולג יש שני ריפים שקועים במים, קצת קשה לראות בתמונה הזו אבל יש </a:t>
            </a:r>
            <a:r>
              <a:rPr lang="he-IL" dirty="0" err="1" smtClean="0"/>
              <a:t>בווצאפ</a:t>
            </a:r>
            <a:r>
              <a:rPr lang="he-IL" dirty="0" smtClean="0"/>
              <a:t> מאייל כהן תמונה עם </a:t>
            </a:r>
            <a:r>
              <a:rPr lang="he-IL" dirty="0" err="1" smtClean="0"/>
              <a:t>רחפן</a:t>
            </a:r>
            <a:r>
              <a:rPr lang="he-IL" dirty="0" smtClean="0"/>
              <a:t> שרואים ממש טוב. אפשר להשתמש בהם לסקר. יש מלא תאריכי צילום גם.</a:t>
            </a:r>
            <a:endParaRPr lang="en-US" dirty="0"/>
          </a:p>
        </p:txBody>
      </p:sp>
      <p:sp>
        <p:nvSpPr>
          <p:cNvPr id="4" name="מלבן 3"/>
          <p:cNvSpPr/>
          <p:nvPr/>
        </p:nvSpPr>
        <p:spPr>
          <a:xfrm>
            <a:off x="150949" y="15555"/>
            <a:ext cx="6096000" cy="646331"/>
          </a:xfrm>
          <a:prstGeom prst="rect">
            <a:avLst/>
          </a:prstGeom>
        </p:spPr>
        <p:txBody>
          <a:bodyPr>
            <a:spAutoFit/>
          </a:bodyPr>
          <a:lstStyle/>
          <a:p>
            <a:pPr algn="l" rtl="0"/>
            <a:r>
              <a:rPr lang="en-US" dirty="0"/>
              <a:t>https://livingatlas.arcgis.com/wayback/#mapCenter=34.95423%2C32.80777%2C18&amp;mode=explore&amp;active=58924</a:t>
            </a:r>
          </a:p>
        </p:txBody>
      </p:sp>
      <p:pic>
        <p:nvPicPr>
          <p:cNvPr id="5" name="תמונה 4"/>
          <p:cNvPicPr>
            <a:picLocks noChangeAspect="1"/>
          </p:cNvPicPr>
          <p:nvPr/>
        </p:nvPicPr>
        <p:blipFill>
          <a:blip r:embed="rId2"/>
          <a:stretch>
            <a:fillRect/>
          </a:stretch>
        </p:blipFill>
        <p:spPr>
          <a:xfrm>
            <a:off x="7343717" y="1334096"/>
            <a:ext cx="4010083" cy="2208415"/>
          </a:xfrm>
          <a:prstGeom prst="rect">
            <a:avLst/>
          </a:prstGeom>
        </p:spPr>
      </p:pic>
      <p:pic>
        <p:nvPicPr>
          <p:cNvPr id="6" name="תמונה 5"/>
          <p:cNvPicPr>
            <a:picLocks noChangeAspect="1"/>
          </p:cNvPicPr>
          <p:nvPr/>
        </p:nvPicPr>
        <p:blipFill>
          <a:blip r:embed="rId3"/>
          <a:stretch>
            <a:fillRect/>
          </a:stretch>
        </p:blipFill>
        <p:spPr>
          <a:xfrm>
            <a:off x="283126" y="1405216"/>
            <a:ext cx="4927503" cy="2287769"/>
          </a:xfrm>
          <a:prstGeom prst="rect">
            <a:avLst/>
          </a:prstGeom>
        </p:spPr>
      </p:pic>
      <p:pic>
        <p:nvPicPr>
          <p:cNvPr id="7" name="תמונה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20" y="3730545"/>
            <a:ext cx="4470400" cy="2981722"/>
          </a:xfrm>
          <a:prstGeom prst="rect">
            <a:avLst/>
          </a:prstGeom>
        </p:spPr>
      </p:pic>
      <p:cxnSp>
        <p:nvCxnSpPr>
          <p:cNvPr id="9" name="מחבר חץ ישר 8"/>
          <p:cNvCxnSpPr/>
          <p:nvPr/>
        </p:nvCxnSpPr>
        <p:spPr>
          <a:xfrm flipH="1" flipV="1">
            <a:off x="5413829" y="3992880"/>
            <a:ext cx="296091" cy="690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flipH="1">
            <a:off x="4982029" y="5110480"/>
            <a:ext cx="616131" cy="1109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45574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8898</TotalTime>
  <Words>784</Words>
  <Application>Microsoft Office PowerPoint</Application>
  <PresentationFormat>מסך רחב</PresentationFormat>
  <Paragraphs>134</Paragraphs>
  <Slides>20</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20</vt:i4>
      </vt:variant>
    </vt:vector>
  </HeadingPairs>
  <TitlesOfParts>
    <vt:vector size="26" baseType="lpstr">
      <vt:lpstr>Aharoni</vt:lpstr>
      <vt:lpstr>Arial</vt:lpstr>
      <vt:lpstr>Calibri</vt:lpstr>
      <vt:lpstr>Calibri Light</vt:lpstr>
      <vt:lpstr>Times New Roman</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קישורים ומידע</vt:lpstr>
      <vt:lpstr>מצגת של PowerPoint‏</vt:lpstr>
      <vt:lpstr>מצגת של PowerPoint‏</vt:lpstr>
      <vt:lpstr>מצגת של PowerPoint‏</vt:lpstr>
      <vt:lpstr>אנשי קשר לפי ערים</vt:lpstr>
      <vt:lpstr>מצגת של PowerPoint‏</vt:lpstr>
      <vt:lpstr>פניה לצלול</vt:lpstr>
      <vt:lpstr>מצגת של PowerPoint‏</vt:lpstr>
      <vt:lpstr>מצגת של PowerPoint‏</vt:lpstr>
      <vt:lpstr>הכי טוב למדידת תנועת חולות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Lior</dc:creator>
  <cp:lastModifiedBy>Lior</cp:lastModifiedBy>
  <cp:revision>57</cp:revision>
  <dcterms:created xsi:type="dcterms:W3CDTF">2025-07-27T08:18:26Z</dcterms:created>
  <dcterms:modified xsi:type="dcterms:W3CDTF">2025-10-23T11:35:10Z</dcterms:modified>
</cp:coreProperties>
</file>